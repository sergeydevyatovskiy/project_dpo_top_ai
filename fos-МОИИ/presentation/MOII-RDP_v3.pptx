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76" r:id="rId5"/>
    <p:sldId id="266" r:id="rId6"/>
    <p:sldId id="272" r:id="rId7"/>
    <p:sldId id="273" r:id="rId8"/>
    <p:sldId id="275" r:id="rId9"/>
    <p:sldId id="267" r:id="rId10"/>
    <p:sldId id="268" r:id="rId11"/>
    <p:sldId id="262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1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32"/>
  </p:normalViewPr>
  <p:slideViewPr>
    <p:cSldViewPr snapToGrid="0">
      <p:cViewPr varScale="1">
        <p:scale>
          <a:sx n="95" d="100"/>
          <a:sy n="95" d="100"/>
        </p:scale>
        <p:origin x="9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14D75-7094-767C-F696-163DA0631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Golos Text" panose="020B0503020202020204" pitchFamily="34" charset="0"/>
                <a:ea typeface="Golos Text" panose="020B0503020202020204" pitchFamily="34" charset="0"/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704547-04D0-4D38-DB77-B43D52ABB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824416-E8F9-61EF-E6D1-BC2B4BAD1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5AA014-56BF-40CB-39F2-DC33F3AFA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D8BC4B-DA57-1DC8-6D9D-53969507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7346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11257-CAF6-47B5-D2A5-6F48CB2FD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04584-D55D-5002-3CFB-92ECEBCB8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6E326A-0D2A-7537-95A3-F838AF0C3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FF1308-8060-D862-3F8E-C9209AB0B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2E7770-AC08-478A-2DFC-52CA9BC09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8521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8B72F2-D5B8-B308-E7BA-AA2D2C0E3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F9E6FA-8BED-62C4-EA10-DFDD2C17C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879B11-A705-E38C-760B-49584E60D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2B70AE-75DF-8572-5095-F5DCD3D72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8ACFDE-55D1-781E-AC17-12F8511BF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651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C6F225-3DC8-CCAA-3314-17B0B9811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960A77-1953-B756-F038-C2AD0481DE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C4E49E-93B8-3A24-2205-E54E59C365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88382C-B13D-FC98-5410-E562E82F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7C28D2-B037-A94E-1A85-76995C9FB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C7B33AD-36F7-1833-97AA-C005F7274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09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3EFB5-579F-BE0B-166C-50426ED7F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F83B45-78DE-0567-0995-1A1C751CA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3D1D42A-C580-082A-A23E-0DD0CB0D4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C7575B3-47F7-7043-1A19-2CADAAA5A2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0853BBA-EB99-E6BB-45E2-225CC5E898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14AD746-157B-488B-A4A4-B12DD9458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2FFA9D4-4769-94B0-4630-BB70AD74F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A310FFB-2D2C-0B90-4ED6-F54BE2F6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94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3671BE-F29D-7143-B2C0-E41BFD686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9B13310-D4EB-4448-E040-D406C2B3E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922AFDA-E23B-F6DC-0074-86E450354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043832A-200E-F2C9-2D80-B185CF139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0637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98E6E3-17C8-654A-2ED8-A2DBD9471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E972E5A-A91E-F858-AAC8-6831E0DE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3696D1-D4AF-3353-A158-31EF3C3C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388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6FD9AD-84DC-EAF1-4A37-28B053D5D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92A09D-B4BE-6AD7-26D0-490F3B093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142F5F4-3B1B-A795-36FE-C6B5DBBBB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97D14E4-61DE-FBE9-79AC-AF0981CCC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38B01F-825D-1209-3206-3ED34A23D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E1DCBD-DCDB-9BE6-A14D-41FA544B0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6497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5EC7E9-28C4-918A-5FBE-2F6FA8566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8A22047-5CE4-09F7-7296-126A89887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8CFEB5-6122-7E07-B156-6DEC0F798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136853-2C93-9518-7229-5FAF7CBA1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2FCEA4-DC7F-6683-C79D-DCB541624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F55E2CF-EAC4-6261-EAF3-7A33BA815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5696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C986E0-902E-3707-6F09-5208A5A1A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08853C4-83F9-00EB-13F2-004171E0C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02B9AD-F7CC-DC3E-D98C-E2CBB6A6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35AED8-859D-C7BA-D8B4-3C052B253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7D5590-FA44-FA25-32A7-187D79A3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225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0A6162F-0CEA-89D5-C5BC-AFAF0D6651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520F03-9C3B-1511-C6F4-0174F6678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DA9F2B-975E-9F5A-EB9C-1CBFBA4F6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6239FE-BEE0-7F3E-DDFD-331E63DB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2CFCA3-4959-96FA-D1A1-32AE64E04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719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4B8F61-F8FD-2E11-52B5-535412FAC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7468CD-D4E7-208A-1469-156E1DA05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493BCF-6C7A-9183-FCD5-EF960E8970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AA3099-0E2E-404F-AC88-0DAC237DA2CA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317AE4-1A8E-3EF8-C946-B3600AF0F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1697FD-5E73-4CFC-DCA4-B7A933533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8390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Golos Text DemiBold" panose="020B0503020202020204" pitchFamily="34" charset="0"/>
          <a:ea typeface="Golos Text DemiBold" panose="020B0503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AA3A7DE-9454-3205-A880-5CE67D6E8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5430"/>
            <a:ext cx="848531" cy="1935538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16E39A8-88E6-3DA1-B9A7-9D4886DCD160}"/>
              </a:ext>
            </a:extLst>
          </p:cNvPr>
          <p:cNvSpPr/>
          <p:nvPr/>
        </p:nvSpPr>
        <p:spPr>
          <a:xfrm>
            <a:off x="0" y="3923818"/>
            <a:ext cx="12191999" cy="3035401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14D7EF9-463E-3F60-540D-9EF951770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4327" y="1362850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FC655D-C2BD-9061-29D1-33ABB82E3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443" y="4249041"/>
            <a:ext cx="9144000" cy="1714723"/>
          </a:xfrm>
        </p:spPr>
        <p:txBody>
          <a:bodyPr>
            <a:normAutofit/>
          </a:bodyPr>
          <a:lstStyle/>
          <a:p>
            <a:pPr algn="l"/>
            <a:r>
              <a:rPr lang="ru-RU" sz="4800" dirty="0">
                <a:solidFill>
                  <a:schemeClr val="bg1"/>
                </a:solidFill>
              </a:rPr>
              <a:t>Методы оптимизации в системах искусственного интеллекта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284915-241E-8EE1-802E-3993741DFF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443" y="6116881"/>
            <a:ext cx="9144000" cy="65885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ru-RU" dirty="0">
                <a:solidFill>
                  <a:schemeClr val="bg1"/>
                </a:solidFill>
              </a:rPr>
              <a:t>Киреев Василий Сергеевич, </a:t>
            </a:r>
            <a:r>
              <a:rPr lang="ru-RU" dirty="0" err="1">
                <a:solidFill>
                  <a:schemeClr val="bg1"/>
                </a:solidFill>
              </a:rPr>
              <a:t>Турлакова</a:t>
            </a:r>
            <a:r>
              <a:rPr lang="ru-RU" dirty="0">
                <a:solidFill>
                  <a:schemeClr val="bg1"/>
                </a:solidFill>
              </a:rPr>
              <a:t> Светлана </a:t>
            </a:r>
            <a:r>
              <a:rPr lang="ru-RU" dirty="0" err="1">
                <a:solidFill>
                  <a:schemeClr val="bg1"/>
                </a:solidFill>
              </a:rPr>
              <a:t>Ульмджиевна</a:t>
            </a:r>
            <a:r>
              <a:rPr lang="ru-RU" dirty="0">
                <a:solidFill>
                  <a:schemeClr val="bg1"/>
                </a:solidFill>
              </a:rPr>
              <a:t>, Конюхов Иван Владимирович,</a:t>
            </a:r>
          </a:p>
          <a:p>
            <a:pPr algn="l"/>
            <a:r>
              <a:rPr lang="ru-RU" dirty="0" err="1">
                <a:solidFill>
                  <a:schemeClr val="bg1"/>
                </a:solidFill>
              </a:rPr>
              <a:t>Девятовский</a:t>
            </a:r>
            <a:r>
              <a:rPr lang="ru-RU" dirty="0">
                <a:solidFill>
                  <a:schemeClr val="bg1"/>
                </a:solidFill>
              </a:rPr>
              <a:t> Сергей Евгеньевич, Пак Вадим Геннадьевич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1455776-F093-4AF3-E008-4E649B75E3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443" y="386289"/>
            <a:ext cx="5322298" cy="32989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F84394D-C7A5-E8B6-4037-C5DF077562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3323" y="391785"/>
            <a:ext cx="1692234" cy="329894"/>
          </a:xfrm>
          <a:prstGeom prst="rect">
            <a:avLst/>
          </a:prstGeom>
        </p:spPr>
      </p:pic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D2CF0753-6B81-2CC5-533F-5F048D407D72}"/>
              </a:ext>
            </a:extLst>
          </p:cNvPr>
          <p:cNvSpPr txBox="1">
            <a:spLocks/>
          </p:cNvSpPr>
          <p:nvPr/>
        </p:nvSpPr>
        <p:spPr>
          <a:xfrm>
            <a:off x="676443" y="3010968"/>
            <a:ext cx="9144000" cy="908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b="1" dirty="0">
                <a:solidFill>
                  <a:srgbClr val="014189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</a:t>
            </a:r>
            <a:br>
              <a:rPr lang="ru-RU" b="1" dirty="0">
                <a:solidFill>
                  <a:srgbClr val="014189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</a:br>
            <a:r>
              <a:rPr lang="ru-RU" b="1" dirty="0">
                <a:solidFill>
                  <a:srgbClr val="014189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на топ-уровне: системное видение</a:t>
            </a:r>
            <a:endParaRPr lang="ru-RU" b="1" dirty="0">
              <a:solidFill>
                <a:srgbClr val="014189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8FAC018B-921B-7279-14A9-14B7651AA5CA}"/>
              </a:ext>
            </a:extLst>
          </p:cNvPr>
          <p:cNvSpPr txBox="1">
            <a:spLocks/>
          </p:cNvSpPr>
          <p:nvPr/>
        </p:nvSpPr>
        <p:spPr>
          <a:xfrm>
            <a:off x="9962030" y="6116880"/>
            <a:ext cx="1794541" cy="658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Golos Text" panose="020B0503020202020204" pitchFamily="34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Golos Text" panose="020B0503020202020204" pitchFamily="34" charset="0"/>
                <a:ea typeface="Golos Text" panose="020B0503020202020204" pitchFamily="34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Golos Text" panose="020B0503020202020204" pitchFamily="34" charset="0"/>
                <a:ea typeface="Golos Text" panose="020B0503020202020204" pitchFamily="34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Golos Text" panose="020B0503020202020204" pitchFamily="34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Golos Text" panose="020B0503020202020204" pitchFamily="34" charset="0"/>
                <a:ea typeface="Golos Text" panose="020B0503020202020204" pitchFamily="34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bg1"/>
                </a:solidFill>
              </a:rPr>
              <a:t>Группа 15</a:t>
            </a:r>
          </a:p>
        </p:txBody>
      </p:sp>
    </p:spTree>
    <p:extLst>
      <p:ext uri="{BB962C8B-B14F-4D97-AF65-F5344CB8AC3E}">
        <p14:creationId xmlns:p14="http://schemas.microsoft.com/office/powerpoint/2010/main" val="4286749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62451-6695-3A33-9C55-F455A3C98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FDB7BBF-72B7-AF68-4191-A926AAE3D3C2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64E0A62-9509-94F3-8748-6C1FF7DC9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327" y="347827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0E483-EE1D-D3E9-579F-F08BABC2D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41601"/>
            <a:ext cx="10400142" cy="878761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Краткая характеристика дисциплины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B2240ECF-CF0D-0FD8-2893-0FF6675980B0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3D0B2A8C-4966-E62C-16D2-22E73CF8EC6E}"/>
              </a:ext>
            </a:extLst>
          </p:cNvPr>
          <p:cNvSpPr/>
          <p:nvPr/>
        </p:nvSpPr>
        <p:spPr>
          <a:xfrm>
            <a:off x="412488" y="1701478"/>
            <a:ext cx="11208494" cy="4860045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813E333A-CFBC-FFFF-2F54-8A9F9F7E9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924711"/>
              </p:ext>
            </p:extLst>
          </p:nvPr>
        </p:nvGraphicFramePr>
        <p:xfrm>
          <a:off x="1395465" y="2246534"/>
          <a:ext cx="8150470" cy="33355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489655">
                  <a:extLst>
                    <a:ext uri="{9D8B030D-6E8A-4147-A177-3AD203B41FA5}">
                      <a16:colId xmlns:a16="http://schemas.microsoft.com/office/drawing/2014/main" val="809389888"/>
                    </a:ext>
                  </a:extLst>
                </a:gridCol>
                <a:gridCol w="4660815">
                  <a:extLst>
                    <a:ext uri="{9D8B030D-6E8A-4147-A177-3AD203B41FA5}">
                      <a16:colId xmlns:a16="http://schemas.microsoft.com/office/drawing/2014/main" val="150949809"/>
                    </a:ext>
                  </a:extLst>
                </a:gridCol>
              </a:tblGrid>
              <a:tr h="45347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ru-RU" sz="1700" b="1" i="0" kern="1200" dirty="0">
                          <a:solidFill>
                            <a:schemeClr val="tx1"/>
                          </a:solidFill>
                          <a:cs typeface="+mn-cs"/>
                        </a:rPr>
                        <a:t>Направление подготовки</a:t>
                      </a: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09.03.04 Программная инженерия</a:t>
                      </a:r>
                      <a:endParaRPr lang="ru-RU" sz="3600">
                        <a:effectLst/>
                      </a:endParaRPr>
                    </a:p>
                  </a:txBody>
                  <a:tcPr marL="101600" marR="101600" marT="63500" marB="63500"/>
                </a:tc>
                <a:extLst>
                  <a:ext uri="{0D108BD9-81ED-4DB2-BD59-A6C34878D82A}">
                    <a16:rowId xmlns:a16="http://schemas.microsoft.com/office/drawing/2014/main" val="2613970448"/>
                  </a:ext>
                </a:extLst>
              </a:tr>
              <a:tr h="45347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ru-RU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Квалификация выпускника</a:t>
                      </a:r>
                      <a:endParaRPr lang="ru-RU" sz="3600" dirty="0">
                        <a:effectLst/>
                      </a:endParaRP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ru-RU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бакалавр</a:t>
                      </a:r>
                      <a:endParaRPr lang="ru-RU" sz="3600" dirty="0">
                        <a:effectLst/>
                      </a:endParaRPr>
                    </a:p>
                  </a:txBody>
                  <a:tcPr marL="101600" marR="101600" marT="63500" marB="63500"/>
                </a:tc>
                <a:extLst>
                  <a:ext uri="{0D108BD9-81ED-4DB2-BD59-A6C34878D82A}">
                    <a16:rowId xmlns:a16="http://schemas.microsoft.com/office/drawing/2014/main" val="787570974"/>
                  </a:ext>
                </a:extLst>
              </a:tr>
              <a:tr h="45347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ru-RU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Язык обучения</a:t>
                      </a:r>
                      <a:endParaRPr lang="ru-RU" sz="3600" dirty="0">
                        <a:effectLst/>
                      </a:endParaRP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русский</a:t>
                      </a:r>
                      <a:endParaRPr lang="ru-RU" sz="3600">
                        <a:effectLst/>
                      </a:endParaRPr>
                    </a:p>
                  </a:txBody>
                  <a:tcPr marL="101600" marR="101600" marT="63500" marB="63500"/>
                </a:tc>
                <a:extLst>
                  <a:ext uri="{0D108BD9-81ED-4DB2-BD59-A6C34878D82A}">
                    <a16:rowId xmlns:a16="http://schemas.microsoft.com/office/drawing/2014/main" val="1859372907"/>
                  </a:ext>
                </a:extLst>
              </a:tr>
              <a:tr h="45347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ru-RU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Форма обучения</a:t>
                      </a:r>
                      <a:endParaRPr lang="ru-RU" sz="3600" dirty="0">
                        <a:effectLst/>
                      </a:endParaRP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очная</a:t>
                      </a:r>
                      <a:endParaRPr lang="ru-RU" sz="3600">
                        <a:effectLst/>
                      </a:endParaRPr>
                    </a:p>
                  </a:txBody>
                  <a:tcPr marL="101600" marR="101600" marT="63500" marB="63500"/>
                </a:tc>
                <a:extLst>
                  <a:ext uri="{0D108BD9-81ED-4DB2-BD59-A6C34878D82A}">
                    <a16:rowId xmlns:a16="http://schemas.microsoft.com/office/drawing/2014/main" val="2157946484"/>
                  </a:ext>
                </a:extLst>
              </a:tr>
              <a:tr h="45347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ru-RU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Семестр</a:t>
                      </a:r>
                      <a:endParaRPr lang="ru-RU" sz="3600">
                        <a:effectLst/>
                      </a:endParaRP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ru-RU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ru-RU" sz="3600" dirty="0">
                        <a:effectLst/>
                      </a:endParaRPr>
                    </a:p>
                  </a:txBody>
                  <a:tcPr marL="101600" marR="101600" marT="63500" marB="63500"/>
                </a:tc>
                <a:extLst>
                  <a:ext uri="{0D108BD9-81ED-4DB2-BD59-A6C34878D82A}">
                    <a16:rowId xmlns:a16="http://schemas.microsoft.com/office/drawing/2014/main" val="2535664454"/>
                  </a:ext>
                </a:extLst>
              </a:tr>
              <a:tr h="45347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ru-RU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Трудоемкость дисциплины</a:t>
                      </a:r>
                      <a:endParaRPr lang="ru-RU" sz="3600">
                        <a:effectLst/>
                      </a:endParaRP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ru-RU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 зачётных единиц (180 академических часов)</a:t>
                      </a:r>
                      <a:endParaRPr lang="ru-RU" sz="3600" dirty="0">
                        <a:effectLst/>
                      </a:endParaRPr>
                    </a:p>
                  </a:txBody>
                  <a:tcPr marL="101600" marR="101600" marT="63500" marB="63500"/>
                </a:tc>
                <a:extLst>
                  <a:ext uri="{0D108BD9-81ED-4DB2-BD59-A6C34878D82A}">
                    <a16:rowId xmlns:a16="http://schemas.microsoft.com/office/drawing/2014/main" val="2893855245"/>
                  </a:ext>
                </a:extLst>
              </a:tr>
              <a:tr h="45347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ru-RU" sz="1600" b="1" u="none" strike="noStrike">
                          <a:solidFill>
                            <a:srgbClr val="000000"/>
                          </a:solidFill>
                          <a:effectLst/>
                        </a:rPr>
                        <a:t>Форма промежуточной аттестации</a:t>
                      </a:r>
                      <a:endParaRPr lang="ru-RU" sz="3600">
                        <a:effectLst/>
                      </a:endParaRP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ru-RU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экзамен</a:t>
                      </a:r>
                      <a:endParaRPr lang="ru-RU" sz="3600" dirty="0">
                        <a:effectLst/>
                      </a:endParaRPr>
                    </a:p>
                  </a:txBody>
                  <a:tcPr marL="101600" marR="101600" marT="63500" marB="63500"/>
                </a:tc>
                <a:extLst>
                  <a:ext uri="{0D108BD9-81ED-4DB2-BD59-A6C34878D82A}">
                    <a16:rowId xmlns:a16="http://schemas.microsoft.com/office/drawing/2014/main" val="218321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8045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9139"/>
            <a:ext cx="10515600" cy="1325563"/>
          </a:xfrm>
        </p:spPr>
        <p:txBody>
          <a:bodyPr/>
          <a:lstStyle/>
          <a:p>
            <a:r>
              <a:rPr lang="ru-RU" dirty="0"/>
              <a:t>Цель, задачи и целевые роли КРМ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1CF8BE-7C18-E6DA-2E1B-B7B81CCA4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0202"/>
            <a:ext cx="10515600" cy="4056761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b="1" dirty="0"/>
              <a:t>Цель дисциплины:</a:t>
            </a:r>
            <a:br>
              <a:rPr lang="ru-RU" dirty="0"/>
            </a:br>
            <a:r>
              <a:rPr lang="ru-RU" dirty="0"/>
              <a:t>Сформировать у студентов системное понимание методов оптимизации как неотъемлемой части жизненного цикла систем искусственного интеллекта, а также практические навыки их выбора, реализации, анализа и обеспечения устойчивости.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b="1" dirty="0"/>
              <a:t>Основные задачи:</a:t>
            </a:r>
            <a:endParaRPr lang="ru-RU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b="1" dirty="0"/>
              <a:t>Теоретические:</a:t>
            </a:r>
            <a:r>
              <a:rPr lang="ru-RU" dirty="0"/>
              <a:t> Изучить математические основы градиентных и адаптивных методов оптимизации, их сходимость и ограничения.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b="1" dirty="0"/>
              <a:t>Инженерные:</a:t>
            </a:r>
            <a:r>
              <a:rPr lang="ru-RU" dirty="0"/>
              <a:t> Научить реализовывать и интегрировать методы оптимизации (SGD, Adam, L‑BFGS) в ML‑</a:t>
            </a:r>
            <a:r>
              <a:rPr lang="ru-RU" dirty="0" err="1"/>
              <a:t>пайплайны</a:t>
            </a:r>
            <a:r>
              <a:rPr lang="ru-RU" dirty="0"/>
              <a:t> с использованием современных фреймворков (</a:t>
            </a:r>
            <a:r>
              <a:rPr lang="ru-RU" dirty="0" err="1"/>
              <a:t>PyTorch</a:t>
            </a:r>
            <a:r>
              <a:rPr lang="ru-RU" dirty="0"/>
              <a:t>/JAX).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b="1" dirty="0"/>
              <a:t>Исследовательские:</a:t>
            </a:r>
            <a:r>
              <a:rPr lang="ru-RU" dirty="0"/>
              <a:t> Развить способность проектировать вычислительные эксперименты, сравнивать эффективность методов и интерпретировать результаты.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b="1" dirty="0"/>
              <a:t>Практические (безопасность):</a:t>
            </a:r>
            <a:r>
              <a:rPr lang="ru-RU" dirty="0"/>
              <a:t> Сформировать компетенции по оценке робастности моделей, анализу влияния шумов и </a:t>
            </a:r>
            <a:r>
              <a:rPr lang="ru-RU" dirty="0" err="1"/>
              <a:t>adversarial</a:t>
            </a:r>
            <a:r>
              <a:rPr lang="ru-RU" dirty="0"/>
              <a:t>‑атак на процесс обучения.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752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552EE-4CE6-5186-6B18-2666339A6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B6BC4E5-AA7F-8EAA-A9BF-1F5DB2462DBF}"/>
              </a:ext>
            </a:extLst>
          </p:cNvPr>
          <p:cNvSpPr/>
          <p:nvPr/>
        </p:nvSpPr>
        <p:spPr>
          <a:xfrm>
            <a:off x="0" y="1"/>
            <a:ext cx="12191999" cy="6857999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921CE41-295C-E660-E5BA-DA529F8A2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327" y="347827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E205F6-6A7C-4EB3-CB3D-EADF02D1F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41601"/>
            <a:ext cx="10400142" cy="878761"/>
          </a:xfrm>
        </p:spPr>
        <p:txBody>
          <a:bodyPr>
            <a:noAutofit/>
          </a:bodyPr>
          <a:lstStyle/>
          <a:p>
            <a:r>
              <a:rPr lang="ru-RU" sz="3200" dirty="0">
                <a:solidFill>
                  <a:schemeClr val="bg1"/>
                </a:solidFill>
              </a:rPr>
              <a:t>Пререквизиты и связь с другими дисциплинами по КРМ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70C60AE9-F866-0910-AB35-30475F5F7843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93B6D37F-B9C8-B8EF-3DBE-4A1ACB91332A}"/>
              </a:ext>
            </a:extLst>
          </p:cNvPr>
          <p:cNvSpPr/>
          <p:nvPr/>
        </p:nvSpPr>
        <p:spPr>
          <a:xfrm>
            <a:off x="412488" y="1701478"/>
            <a:ext cx="11208494" cy="4860045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F507C2F4-10E3-EDED-BC5B-8554336635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359206"/>
              </p:ext>
            </p:extLst>
          </p:nvPr>
        </p:nvGraphicFramePr>
        <p:xfrm>
          <a:off x="758935" y="3013237"/>
          <a:ext cx="10515600" cy="3272475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075822">
                  <a:extLst>
                    <a:ext uri="{9D8B030D-6E8A-4147-A177-3AD203B41FA5}">
                      <a16:colId xmlns:a16="http://schemas.microsoft.com/office/drawing/2014/main" val="2706919385"/>
                    </a:ext>
                  </a:extLst>
                </a:gridCol>
                <a:gridCol w="2291024">
                  <a:extLst>
                    <a:ext uri="{9D8B030D-6E8A-4147-A177-3AD203B41FA5}">
                      <a16:colId xmlns:a16="http://schemas.microsoft.com/office/drawing/2014/main" val="2420293306"/>
                    </a:ext>
                  </a:extLst>
                </a:gridCol>
                <a:gridCol w="3392649">
                  <a:extLst>
                    <a:ext uri="{9D8B030D-6E8A-4147-A177-3AD203B41FA5}">
                      <a16:colId xmlns:a16="http://schemas.microsoft.com/office/drawing/2014/main" val="3467239759"/>
                    </a:ext>
                  </a:extLst>
                </a:gridCol>
                <a:gridCol w="2756105">
                  <a:extLst>
                    <a:ext uri="{9D8B030D-6E8A-4147-A177-3AD203B41FA5}">
                      <a16:colId xmlns:a16="http://schemas.microsoft.com/office/drawing/2014/main" val="24794439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Компетенция (КРМ)</a:t>
                      </a:r>
                      <a:endParaRPr lang="ru-RU" sz="12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>
                          <a:solidFill>
                            <a:srgbClr val="0F1115"/>
                          </a:solidFill>
                          <a:effectLst/>
                        </a:rPr>
                        <a:t>Где закладывается (</a:t>
                      </a:r>
                      <a:r>
                        <a:rPr lang="ru-RU" sz="1200" b="1" dirty="0" err="1">
                          <a:solidFill>
                            <a:srgbClr val="0F1115"/>
                          </a:solidFill>
                          <a:effectLst/>
                        </a:rPr>
                        <a:t>Пререквизит</a:t>
                      </a:r>
                      <a:r>
                        <a:rPr lang="ru-RU" sz="1200" b="1" dirty="0">
                          <a:solidFill>
                            <a:srgbClr val="0F1115"/>
                          </a:solidFill>
                          <a:effectLst/>
                        </a:rPr>
                        <a:t>)</a:t>
                      </a:r>
                      <a:endParaRPr lang="ru-RU" sz="12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>
                          <a:solidFill>
                            <a:srgbClr val="0F1115"/>
                          </a:solidFill>
                          <a:effectLst/>
                        </a:rPr>
                        <a:t>Где применяется и развивается (Данная дисциплина)</a:t>
                      </a:r>
                      <a:endParaRPr lang="ru-RU" sz="12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>
                          <a:solidFill>
                            <a:srgbClr val="0F1115"/>
                          </a:solidFill>
                          <a:effectLst/>
                        </a:rPr>
                        <a:t>Где закрепляется (</a:t>
                      </a:r>
                      <a:r>
                        <a:rPr lang="ru-RU" sz="1200" b="1" dirty="0" err="1">
                          <a:solidFill>
                            <a:srgbClr val="0F1115"/>
                          </a:solidFill>
                          <a:effectLst/>
                        </a:rPr>
                        <a:t>Постреквизит</a:t>
                      </a:r>
                      <a:r>
                        <a:rPr lang="ru-RU" sz="1200" b="1" dirty="0">
                          <a:solidFill>
                            <a:srgbClr val="0F1115"/>
                          </a:solidFill>
                          <a:effectLst/>
                        </a:rPr>
                        <a:t>)</a:t>
                      </a:r>
                      <a:endParaRPr lang="ru-RU" sz="12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359142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MF-1</a:t>
                      </a: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 (Теорвер и статистика)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rgbClr val="0F1115"/>
                          </a:solidFill>
                          <a:effectLst/>
                        </a:rPr>
                        <a:t>Курс «Теория вероятностей»</a:t>
                      </a:r>
                      <a:endParaRPr lang="ru-R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Используется для анализа сходимости и статистических свойств оценок.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Применяется в курсах по глубокому обучению и исследовании данных.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957706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PL-1</a:t>
                      </a: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 (Python)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Курс «Программирование на Python»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Используется для реализации оптимизаторов и пайплайнов.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Используется в промышленной разработке ML-систем (MLOps).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059294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ML-2</a:t>
                      </a: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 (Основы МО)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Курс «Машинное обучение»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Является базой для понимания целевых функций и данных.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Углубляется в курсах по Deep Learning и Computer Vision.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017720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LC-5</a:t>
                      </a: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 (Пром. разработка)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–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Закладываются основы</a:t>
                      </a: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 CI/CD для моделей, мониторинга качества.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rgbClr val="0F1115"/>
                          </a:solidFill>
                          <a:effectLst/>
                        </a:rPr>
                        <a:t>Полноценно изучается в курсе «</a:t>
                      </a:r>
                      <a:r>
                        <a:rPr lang="ru-RU" sz="1200" b="0" dirty="0" err="1">
                          <a:solidFill>
                            <a:srgbClr val="0F1115"/>
                          </a:solidFill>
                          <a:effectLst/>
                        </a:rPr>
                        <a:t>MLOps</a:t>
                      </a:r>
                      <a:r>
                        <a:rPr lang="ru-RU" sz="1200" b="0" dirty="0">
                          <a:solidFill>
                            <a:srgbClr val="0F1115"/>
                          </a:solidFill>
                          <a:effectLst/>
                        </a:rPr>
                        <a:t>».</a:t>
                      </a:r>
                      <a:endParaRPr lang="ru-R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8562227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DC3CAC6-B72F-F910-5E91-F8FA5BB665FC}"/>
              </a:ext>
            </a:extLst>
          </p:cNvPr>
          <p:cNvSpPr txBox="1"/>
          <p:nvPr/>
        </p:nvSpPr>
        <p:spPr>
          <a:xfrm>
            <a:off x="758935" y="1880304"/>
            <a:ext cx="102161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Входные требования к студенту (Пререквизиты):</a:t>
            </a:r>
            <a:endParaRPr lang="ru-RU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Математика: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 Линейная алгебра, математический анализ, теория вероятностей (базовый уровень).</a:t>
            </a:r>
          </a:p>
          <a:p>
            <a:pPr marL="0" marR="0" indent="0"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Программирование: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 Уверенное владение Python (библиотеки </a:t>
            </a:r>
            <a:r>
              <a:rPr lang="ru-RU" sz="1400" b="0" i="0" dirty="0" err="1">
                <a:solidFill>
                  <a:srgbClr val="0F1115"/>
                </a:solidFill>
                <a:effectLst/>
                <a:latin typeface="quote-cjk-patch"/>
              </a:rPr>
              <a:t>NumPy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ru-RU" sz="1400" b="0" i="0" dirty="0" err="1">
                <a:solidFill>
                  <a:srgbClr val="0F1115"/>
                </a:solidFill>
                <a:effectLst/>
                <a:latin typeface="quote-cjk-patch"/>
              </a:rPr>
              <a:t>Pandas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).</a:t>
            </a:r>
          </a:p>
          <a:p>
            <a:pPr marL="0" marR="0" indent="0"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Машинное обучение: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 Основы ML (понимание задач регрессии/классификации, переобучения).</a:t>
            </a:r>
          </a:p>
        </p:txBody>
      </p:sp>
    </p:spTree>
    <p:extLst>
      <p:ext uri="{BB962C8B-B14F-4D97-AF65-F5344CB8AC3E}">
        <p14:creationId xmlns:p14="http://schemas.microsoft.com/office/powerpoint/2010/main" val="3064767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3B589-7002-AD55-5B09-344166289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F0AFD89-78CC-CFB7-79E4-F159024D1BA9}"/>
              </a:ext>
            </a:extLst>
          </p:cNvPr>
          <p:cNvSpPr/>
          <p:nvPr/>
        </p:nvSpPr>
        <p:spPr>
          <a:xfrm>
            <a:off x="0" y="1"/>
            <a:ext cx="12191999" cy="6857999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258B1D1-ADD4-82CE-F880-680895F32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327" y="347827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401D78-445F-5AF2-4317-2BFA57185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641601"/>
            <a:ext cx="10782783" cy="878761"/>
          </a:xfrm>
        </p:spPr>
        <p:txBody>
          <a:bodyPr>
            <a:no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Профильные ИИ-роли КРМ в рамках дисциплины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3E06500C-839B-ABE0-9AF2-D94EDD10E9B2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93F8AA9E-53E6-1CCE-0019-DEDDBFF94B52}"/>
              </a:ext>
            </a:extLst>
          </p:cNvPr>
          <p:cNvSpPr/>
          <p:nvPr/>
        </p:nvSpPr>
        <p:spPr>
          <a:xfrm>
            <a:off x="412488" y="1701478"/>
            <a:ext cx="11208494" cy="4860045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2C351679-EAB2-F247-0A87-FE395C7E3F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180232"/>
              </p:ext>
            </p:extLst>
          </p:nvPr>
        </p:nvGraphicFramePr>
        <p:xfrm>
          <a:off x="722742" y="2147995"/>
          <a:ext cx="10400142" cy="2471097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382199">
                  <a:extLst>
                    <a:ext uri="{9D8B030D-6E8A-4147-A177-3AD203B41FA5}">
                      <a16:colId xmlns:a16="http://schemas.microsoft.com/office/drawing/2014/main" val="3044077151"/>
                    </a:ext>
                  </a:extLst>
                </a:gridCol>
                <a:gridCol w="4551229">
                  <a:extLst>
                    <a:ext uri="{9D8B030D-6E8A-4147-A177-3AD203B41FA5}">
                      <a16:colId xmlns:a16="http://schemas.microsoft.com/office/drawing/2014/main" val="4278198476"/>
                    </a:ext>
                  </a:extLst>
                </a:gridCol>
                <a:gridCol w="3466714">
                  <a:extLst>
                    <a:ext uri="{9D8B030D-6E8A-4147-A177-3AD203B41FA5}">
                      <a16:colId xmlns:a16="http://schemas.microsoft.com/office/drawing/2014/main" val="3233025866"/>
                    </a:ext>
                  </a:extLst>
                </a:gridCol>
              </a:tblGrid>
              <a:tr h="55878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Роль (КРМ)</a:t>
                      </a:r>
                      <a:endParaRPr lang="ru-RU" sz="12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>
                          <a:solidFill>
                            <a:srgbClr val="0F1115"/>
                          </a:solidFill>
                          <a:effectLst/>
                        </a:rPr>
                        <a:t>Ключевые функции (из КРМ)</a:t>
                      </a:r>
                      <a:endParaRPr lang="ru-RU" sz="12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>
                          <a:solidFill>
                            <a:srgbClr val="0F1115"/>
                          </a:solidFill>
                          <a:effectLst/>
                        </a:rPr>
                        <a:t>Формируемые компетенции (в дисциплине)</a:t>
                      </a:r>
                      <a:endParaRPr lang="ru-RU" sz="12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080209373"/>
                  </a:ext>
                </a:extLst>
              </a:tr>
              <a:tr h="920807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ML Researcher</a:t>
                      </a:r>
                      <a:b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</a:b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(Исследователь машинного обучения)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rgbClr val="0F1115"/>
                          </a:solidFill>
                          <a:effectLst/>
                        </a:rPr>
                        <a:t>• Разработка новых алгоритмов и методов МО</a:t>
                      </a:r>
                      <a:br>
                        <a:rPr lang="ru-RU" sz="1200" b="0" dirty="0">
                          <a:solidFill>
                            <a:srgbClr val="0F1115"/>
                          </a:solidFill>
                          <a:effectLst/>
                        </a:rPr>
                      </a:br>
                      <a:r>
                        <a:rPr lang="ru-RU" sz="1200" b="0" dirty="0">
                          <a:solidFill>
                            <a:srgbClr val="0F1115"/>
                          </a:solidFill>
                          <a:effectLst/>
                        </a:rPr>
                        <a:t>• Проведение научных исследований и экспериментов</a:t>
                      </a:r>
                      <a:br>
                        <a:rPr lang="ru-RU" sz="1200" b="0" dirty="0">
                          <a:solidFill>
                            <a:srgbClr val="0F1115"/>
                          </a:solidFill>
                          <a:effectLst/>
                        </a:rPr>
                      </a:br>
                      <a:r>
                        <a:rPr lang="ru-RU" sz="1200" b="0" dirty="0">
                          <a:solidFill>
                            <a:srgbClr val="0F1115"/>
                          </a:solidFill>
                          <a:effectLst/>
                        </a:rPr>
                        <a:t>• Анализ современных трендов в ИИ</a:t>
                      </a:r>
                      <a:endParaRPr lang="ru-R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MF‑3</a:t>
                      </a: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 – Методы оптимизации</a:t>
                      </a:r>
                      <a:b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</a:b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ML‑3</a:t>
                      </a: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 – Классическое МО с учителем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12166323"/>
                  </a:ext>
                </a:extLst>
              </a:tr>
              <a:tr h="81658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>
                          <a:solidFill>
                            <a:srgbClr val="0F1115"/>
                          </a:solidFill>
                          <a:effectLst/>
                        </a:rPr>
                        <a:t>AI Security </a:t>
                      </a:r>
                      <a:r>
                        <a:rPr lang="ru-RU" sz="1200" b="1" dirty="0" err="1">
                          <a:solidFill>
                            <a:srgbClr val="0F1115"/>
                          </a:solidFill>
                          <a:effectLst/>
                        </a:rPr>
                        <a:t>Engineer</a:t>
                      </a:r>
                      <a:br>
                        <a:rPr lang="ru-RU" sz="1200" b="0" dirty="0">
                          <a:solidFill>
                            <a:srgbClr val="0F1115"/>
                          </a:solidFill>
                          <a:effectLst/>
                        </a:rPr>
                      </a:br>
                      <a:r>
                        <a:rPr lang="ru-RU" sz="1200" b="0" dirty="0">
                          <a:solidFill>
                            <a:srgbClr val="0F1115"/>
                          </a:solidFill>
                          <a:effectLst/>
                        </a:rPr>
                        <a:t>(Инженер безопасности ИИ)</a:t>
                      </a:r>
                      <a:endParaRPr lang="ru-R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• Анализ уязвимостей и угроз в ИИ‑системах</a:t>
                      </a:r>
                      <a:b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</a:b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• Разработка методов защиты от атак на ИИ</a:t>
                      </a:r>
                      <a:b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</a:b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• Валидация и тестирование ИИ‑систем на безопасность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>
                          <a:solidFill>
                            <a:srgbClr val="0F1115"/>
                          </a:solidFill>
                          <a:effectLst/>
                        </a:rPr>
                        <a:t>ML‑3</a:t>
                      </a:r>
                      <a:r>
                        <a:rPr lang="ru-RU" sz="1200" b="0" dirty="0">
                          <a:solidFill>
                            <a:srgbClr val="0F1115"/>
                          </a:solidFill>
                          <a:effectLst/>
                        </a:rPr>
                        <a:t> – (в части оценки результативности)</a:t>
                      </a:r>
                      <a:br>
                        <a:rPr lang="ru-RU" sz="1200" b="0" dirty="0">
                          <a:solidFill>
                            <a:srgbClr val="0F1115"/>
                          </a:solidFill>
                          <a:effectLst/>
                        </a:rPr>
                      </a:br>
                      <a:r>
                        <a:rPr lang="ru-RU" sz="1200" b="1" dirty="0">
                          <a:solidFill>
                            <a:srgbClr val="0F1115"/>
                          </a:solidFill>
                          <a:effectLst/>
                        </a:rPr>
                        <a:t>ML‑5</a:t>
                      </a:r>
                      <a:r>
                        <a:rPr lang="ru-RU" sz="1200" b="0" dirty="0">
                          <a:solidFill>
                            <a:srgbClr val="0F1115"/>
                          </a:solidFill>
                          <a:effectLst/>
                        </a:rPr>
                        <a:t> – Устойчивость, надёжность, безопасность алгоритмов МО</a:t>
                      </a:r>
                      <a:endParaRPr lang="ru-R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2155097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468920F-E394-FC39-F7E4-0C9CB20CAE2E}"/>
              </a:ext>
            </a:extLst>
          </p:cNvPr>
          <p:cNvSpPr txBox="1"/>
          <p:nvPr/>
        </p:nvSpPr>
        <p:spPr>
          <a:xfrm>
            <a:off x="665013" y="4864533"/>
            <a:ext cx="10515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ML </a:t>
            </a:r>
            <a:r>
              <a:rPr lang="ru-RU" sz="1400" b="1" i="0" dirty="0" err="1">
                <a:solidFill>
                  <a:srgbClr val="0F1115"/>
                </a:solidFill>
                <a:effectLst/>
                <a:latin typeface="quote-cjk-patch"/>
              </a:rPr>
              <a:t>Researcher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 – ядро дисциплины: оптимизация – это фундаментальный исследовательский инструмент.</a:t>
            </a:r>
          </a:p>
          <a:p>
            <a:pPr marL="0" marR="0" indent="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AI Security </a:t>
            </a:r>
            <a:r>
              <a:rPr lang="ru-RU" sz="1400" b="1" i="0" dirty="0" err="1">
                <a:solidFill>
                  <a:srgbClr val="0F1115"/>
                </a:solidFill>
                <a:effectLst/>
                <a:latin typeface="quote-cjk-patch"/>
              </a:rPr>
              <a:t>Engineer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 – обеспечивает практический выход на </a:t>
            </a: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робастную оптимизацию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, защиту моделей от деградации и атак, что критично для промышленного применения.</a:t>
            </a:r>
          </a:p>
          <a:p>
            <a:pPr marL="0" marR="0" indent="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Все индикаторы КРМ, закреплённые за этими ролями, покрываются минимум двумя оценочными средствами (принцип триангуляции).</a:t>
            </a:r>
          </a:p>
        </p:txBody>
      </p:sp>
    </p:spTree>
    <p:extLst>
      <p:ext uri="{BB962C8B-B14F-4D97-AF65-F5344CB8AC3E}">
        <p14:creationId xmlns:p14="http://schemas.microsoft.com/office/powerpoint/2010/main" val="3746475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493A4-8F5E-3320-94E4-C55053B64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9D3E4F4-BB7A-752F-FD93-B76C02467717}"/>
              </a:ext>
            </a:extLst>
          </p:cNvPr>
          <p:cNvSpPr/>
          <p:nvPr/>
        </p:nvSpPr>
        <p:spPr>
          <a:xfrm>
            <a:off x="0" y="1"/>
            <a:ext cx="12191999" cy="6857999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E7B9E61-71AC-48CC-4F9A-32EDDB433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327" y="347827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0AD619-EB5A-B359-68D3-D8F01986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41601"/>
            <a:ext cx="10400142" cy="878761"/>
          </a:xfrm>
        </p:spPr>
        <p:txBody>
          <a:bodyPr>
            <a:no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Структура, содержание и результаты в логике КРМ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C1F73431-4B76-0FC3-E78B-996520B9A204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7D7E64F-5EFE-ACCC-AAC2-57652DD0469E}"/>
              </a:ext>
            </a:extLst>
          </p:cNvPr>
          <p:cNvSpPr/>
          <p:nvPr/>
        </p:nvSpPr>
        <p:spPr>
          <a:xfrm>
            <a:off x="412488" y="1701478"/>
            <a:ext cx="11208494" cy="4860045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B7A95C4B-49FC-335F-FD11-D15149548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39135"/>
              </p:ext>
            </p:extLst>
          </p:nvPr>
        </p:nvGraphicFramePr>
        <p:xfrm>
          <a:off x="646880" y="2125713"/>
          <a:ext cx="10782779" cy="388154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745316">
                  <a:extLst>
                    <a:ext uri="{9D8B030D-6E8A-4147-A177-3AD203B41FA5}">
                      <a16:colId xmlns:a16="http://schemas.microsoft.com/office/drawing/2014/main" val="1529307959"/>
                    </a:ext>
                  </a:extLst>
                </a:gridCol>
                <a:gridCol w="2009670">
                  <a:extLst>
                    <a:ext uri="{9D8B030D-6E8A-4147-A177-3AD203B41FA5}">
                      <a16:colId xmlns:a16="http://schemas.microsoft.com/office/drawing/2014/main" val="1315698743"/>
                    </a:ext>
                  </a:extLst>
                </a:gridCol>
                <a:gridCol w="3608384">
                  <a:extLst>
                    <a:ext uri="{9D8B030D-6E8A-4147-A177-3AD203B41FA5}">
                      <a16:colId xmlns:a16="http://schemas.microsoft.com/office/drawing/2014/main" val="3756141939"/>
                    </a:ext>
                  </a:extLst>
                </a:gridCol>
                <a:gridCol w="1805031">
                  <a:extLst>
                    <a:ext uri="{9D8B030D-6E8A-4147-A177-3AD203B41FA5}">
                      <a16:colId xmlns:a16="http://schemas.microsoft.com/office/drawing/2014/main" val="1658865971"/>
                    </a:ext>
                  </a:extLst>
                </a:gridCol>
                <a:gridCol w="1379271">
                  <a:extLst>
                    <a:ext uri="{9D8B030D-6E8A-4147-A177-3AD203B41FA5}">
                      <a16:colId xmlns:a16="http://schemas.microsoft.com/office/drawing/2014/main" val="2817481620"/>
                    </a:ext>
                  </a:extLst>
                </a:gridCol>
                <a:gridCol w="1235107">
                  <a:extLst>
                    <a:ext uri="{9D8B030D-6E8A-4147-A177-3AD203B41FA5}">
                      <a16:colId xmlns:a16="http://schemas.microsoft.com/office/drawing/2014/main" val="1084916469"/>
                    </a:ext>
                  </a:extLst>
                </a:gridCol>
              </a:tblGrid>
              <a:tr h="70466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№ модуля</a:t>
                      </a:r>
                      <a:endParaRPr lang="ru-RU" sz="12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69332" marR="115553" marT="72221" marB="7222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Название модуля / Темы</a:t>
                      </a:r>
                      <a:endParaRPr lang="ru-RU" sz="12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5553" marR="115553" marT="72221" marB="7222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Основное содержание</a:t>
                      </a:r>
                      <a:endParaRPr lang="ru-RU" sz="12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5553" marR="115553" marT="72221" marB="7222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Формируемые компетенции (КРМ)</a:t>
                      </a:r>
                      <a:endParaRPr lang="ru-RU" sz="12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5553" marR="115553" marT="72221" marB="7222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Индикаторы (ИД)</a:t>
                      </a:r>
                      <a:endParaRPr lang="ru-RU" sz="12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5553" marR="115553" marT="72221" marB="7222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>
                          <a:solidFill>
                            <a:srgbClr val="0F1115"/>
                          </a:solidFill>
                          <a:effectLst/>
                        </a:rPr>
                        <a:t>Уровень освоения (целевой)</a:t>
                      </a:r>
                      <a:endParaRPr lang="ru-RU" sz="12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5553" marR="115553" marT="72221" marB="72221" anchor="ctr"/>
                </a:tc>
                <a:extLst>
                  <a:ext uri="{0D108BD9-81ED-4DB2-BD59-A6C34878D82A}">
                    <a16:rowId xmlns:a16="http://schemas.microsoft.com/office/drawing/2014/main" val="2687034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>
                          <a:solidFill>
                            <a:srgbClr val="0F1115"/>
                          </a:solidFill>
                          <a:effectLst/>
                        </a:rPr>
                        <a:t>1</a:t>
                      </a:r>
                      <a:endParaRPr lang="ru-R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69332" marR="115553" marT="72221" marB="7222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>
                          <a:solidFill>
                            <a:srgbClr val="0F1115"/>
                          </a:solidFill>
                          <a:effectLst/>
                        </a:rPr>
                        <a:t>Классические методы оптимизации для МО</a:t>
                      </a:r>
                      <a:r>
                        <a:rPr lang="ru-RU" sz="1200" b="0" dirty="0">
                          <a:solidFill>
                            <a:srgbClr val="0F1115"/>
                          </a:solidFill>
                          <a:effectLst/>
                        </a:rPr>
                        <a:t> (темы 1–4)</a:t>
                      </a:r>
                      <a:endParaRPr lang="ru-R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5553" marR="115553" marT="72221" marB="7222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rgbClr val="0F1115"/>
                          </a:solidFill>
                          <a:effectLst/>
                        </a:rPr>
                        <a:t>Введение в оптимизацию, выпуклый анализ, градиентные методы, ускоренные методы, SGD.</a:t>
                      </a:r>
                      <a:endParaRPr lang="ru-R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5553" marR="115553" marT="72221" marB="7222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MF‑3</a:t>
                      </a: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, </a:t>
                      </a: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ML‑3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5553" marR="115553" marT="72221" marB="7222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MF‑3.1, MF‑3.2, ML‑3.1, ML‑3.2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5553" marR="115553" marT="72221" marB="7222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Базовый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5553" marR="69332" marT="72221" marB="72221" anchor="ctr"/>
                </a:tc>
                <a:extLst>
                  <a:ext uri="{0D108BD9-81ED-4DB2-BD59-A6C34878D82A}">
                    <a16:rowId xmlns:a16="http://schemas.microsoft.com/office/drawing/2014/main" val="963752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2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69332" marR="115553" marT="72221" marB="7222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Современные методы оптимизации в системах ИИ</a:t>
                      </a: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 (темы 5–8)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5553" marR="115553" marT="72221" marB="7222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rgbClr val="0F1115"/>
                          </a:solidFill>
                          <a:effectLst/>
                        </a:rPr>
                        <a:t>Адаптивные методы (Adam, </a:t>
                      </a:r>
                      <a:r>
                        <a:rPr lang="ru-RU" sz="1200" b="0" dirty="0" err="1">
                          <a:solidFill>
                            <a:srgbClr val="0F1115"/>
                          </a:solidFill>
                          <a:effectLst/>
                        </a:rPr>
                        <a:t>RMSProp</a:t>
                      </a:r>
                      <a:r>
                        <a:rPr lang="ru-RU" sz="1200" b="0" dirty="0">
                          <a:solidFill>
                            <a:srgbClr val="0F1115"/>
                          </a:solidFill>
                          <a:effectLst/>
                        </a:rPr>
                        <a:t>), настройка </a:t>
                      </a:r>
                      <a:r>
                        <a:rPr lang="ru-RU" sz="1200" b="0" dirty="0" err="1">
                          <a:solidFill>
                            <a:srgbClr val="0F1115"/>
                          </a:solidFill>
                          <a:effectLst/>
                        </a:rPr>
                        <a:t>гиперпараметров</a:t>
                      </a:r>
                      <a:r>
                        <a:rPr lang="ru-RU" sz="1200" b="0" dirty="0">
                          <a:solidFill>
                            <a:srgbClr val="0F1115"/>
                          </a:solidFill>
                          <a:effectLst/>
                        </a:rPr>
                        <a:t> (</a:t>
                      </a:r>
                      <a:r>
                        <a:rPr lang="ru-RU" sz="1200" b="0" dirty="0" err="1">
                          <a:solidFill>
                            <a:srgbClr val="0F1115"/>
                          </a:solidFill>
                          <a:effectLst/>
                        </a:rPr>
                        <a:t>Optuna</a:t>
                      </a:r>
                      <a:r>
                        <a:rPr lang="ru-RU" sz="1200" b="0" dirty="0">
                          <a:solidFill>
                            <a:srgbClr val="0F1115"/>
                          </a:solidFill>
                          <a:effectLst/>
                        </a:rPr>
                        <a:t>), оптимизация глубоких сетей, робастная оптимизация и безопасность.</a:t>
                      </a:r>
                      <a:endParaRPr lang="ru-R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5553" marR="115553" marT="72221" marB="7222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MF‑3</a:t>
                      </a: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, </a:t>
                      </a: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ML‑3</a:t>
                      </a: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, </a:t>
                      </a: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ML‑5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5553" marR="115553" marT="72221" marB="7222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MF‑3.2, ML‑3.2, ML‑3.3, ML‑5.1, ML‑5.2, ML‑5.3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5553" marR="115553" marT="72221" marB="7222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Базовый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5553" marR="69332" marT="72221" marB="72221" anchor="ctr"/>
                </a:tc>
                <a:extLst>
                  <a:ext uri="{0D108BD9-81ED-4DB2-BD59-A6C34878D82A}">
                    <a16:rowId xmlns:a16="http://schemas.microsoft.com/office/drawing/2014/main" val="2830026823"/>
                  </a:ext>
                </a:extLst>
              </a:tr>
              <a:tr h="43991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–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69332" marR="115553" marT="72221" marB="7222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Курсовой проект (интеграция)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5553" marR="115553" marT="72221" marB="7222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rgbClr val="0F1115"/>
                          </a:solidFill>
                          <a:effectLst/>
                        </a:rPr>
                        <a:t>Разработка MVP, сравнительный анализ ≥3 методов оптимизации, анализ робастности.</a:t>
                      </a:r>
                      <a:endParaRPr lang="ru-R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5553" marR="115553" marT="72221" marB="7222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MF‑3, ML‑3, ML‑5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5553" marR="115553" marT="72221" marB="7222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Все заявленные ИД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5553" marR="115553" marT="72221" marB="7222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rgbClr val="0F1115"/>
                          </a:solidFill>
                          <a:effectLst/>
                        </a:rPr>
                        <a:t>Базовый / Продвинутый (индивидуально)</a:t>
                      </a:r>
                      <a:endParaRPr lang="ru-R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15553" marR="69332" marT="72221" marB="72221" anchor="ctr"/>
                </a:tc>
                <a:extLst>
                  <a:ext uri="{0D108BD9-81ED-4DB2-BD59-A6C34878D82A}">
                    <a16:rowId xmlns:a16="http://schemas.microsoft.com/office/drawing/2014/main" val="328130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213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B40BF-39CF-3A1A-87A0-783F033AD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0F78751-22DC-F28F-86F0-F26EA8BFFB2F}"/>
              </a:ext>
            </a:extLst>
          </p:cNvPr>
          <p:cNvSpPr/>
          <p:nvPr/>
        </p:nvSpPr>
        <p:spPr>
          <a:xfrm>
            <a:off x="0" y="1"/>
            <a:ext cx="12191999" cy="6857999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9CBC9E8-8F14-6C88-E929-39132B952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327" y="347827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003E71-8DE3-882C-4E7E-388D34385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41601"/>
            <a:ext cx="10400142" cy="878761"/>
          </a:xfrm>
        </p:spPr>
        <p:txBody>
          <a:bodyPr>
            <a:no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Учебно-тематический план (распределение часов по модулям)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9BC85B2C-1BE6-6854-BFCC-571A970A2720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C87D985-139F-33CA-DCFA-AB02ACA872CE}"/>
              </a:ext>
            </a:extLst>
          </p:cNvPr>
          <p:cNvSpPr/>
          <p:nvPr/>
        </p:nvSpPr>
        <p:spPr>
          <a:xfrm>
            <a:off x="412488" y="1701478"/>
            <a:ext cx="11208494" cy="4860045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D860E16-FC43-3DE2-99D7-8B1378735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084721"/>
              </p:ext>
            </p:extLst>
          </p:nvPr>
        </p:nvGraphicFramePr>
        <p:xfrm>
          <a:off x="1197158" y="2072970"/>
          <a:ext cx="9566767" cy="4239974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63529">
                  <a:extLst>
                    <a:ext uri="{9D8B030D-6E8A-4147-A177-3AD203B41FA5}">
                      <a16:colId xmlns:a16="http://schemas.microsoft.com/office/drawing/2014/main" val="2154184152"/>
                    </a:ext>
                  </a:extLst>
                </a:gridCol>
                <a:gridCol w="2770715">
                  <a:extLst>
                    <a:ext uri="{9D8B030D-6E8A-4147-A177-3AD203B41FA5}">
                      <a16:colId xmlns:a16="http://schemas.microsoft.com/office/drawing/2014/main" val="1865696725"/>
                    </a:ext>
                  </a:extLst>
                </a:gridCol>
                <a:gridCol w="822100">
                  <a:extLst>
                    <a:ext uri="{9D8B030D-6E8A-4147-A177-3AD203B41FA5}">
                      <a16:colId xmlns:a16="http://schemas.microsoft.com/office/drawing/2014/main" val="62915893"/>
                    </a:ext>
                  </a:extLst>
                </a:gridCol>
                <a:gridCol w="814863">
                  <a:extLst>
                    <a:ext uri="{9D8B030D-6E8A-4147-A177-3AD203B41FA5}">
                      <a16:colId xmlns:a16="http://schemas.microsoft.com/office/drawing/2014/main" val="1665253138"/>
                    </a:ext>
                  </a:extLst>
                </a:gridCol>
                <a:gridCol w="1178156">
                  <a:extLst>
                    <a:ext uri="{9D8B030D-6E8A-4147-A177-3AD203B41FA5}">
                      <a16:colId xmlns:a16="http://schemas.microsoft.com/office/drawing/2014/main" val="2263094588"/>
                    </a:ext>
                  </a:extLst>
                </a:gridCol>
                <a:gridCol w="938914">
                  <a:extLst>
                    <a:ext uri="{9D8B030D-6E8A-4147-A177-3AD203B41FA5}">
                      <a16:colId xmlns:a16="http://schemas.microsoft.com/office/drawing/2014/main" val="720851982"/>
                    </a:ext>
                  </a:extLst>
                </a:gridCol>
                <a:gridCol w="1339245">
                  <a:extLst>
                    <a:ext uri="{9D8B030D-6E8A-4147-A177-3AD203B41FA5}">
                      <a16:colId xmlns:a16="http://schemas.microsoft.com/office/drawing/2014/main" val="3905268981"/>
                    </a:ext>
                  </a:extLst>
                </a:gridCol>
                <a:gridCol w="1339245">
                  <a:extLst>
                    <a:ext uri="{9D8B030D-6E8A-4147-A177-3AD203B41FA5}">
                      <a16:colId xmlns:a16="http://schemas.microsoft.com/office/drawing/2014/main" val="1526259450"/>
                    </a:ext>
                  </a:extLst>
                </a:gridCol>
              </a:tblGrid>
              <a:tr h="615231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№</a:t>
                      </a:r>
                      <a:endParaRPr lang="ru-RU" sz="12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77872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>
                          <a:solidFill>
                            <a:srgbClr val="0F1115"/>
                          </a:solidFill>
                          <a:effectLst/>
                        </a:rPr>
                        <a:t>Модуль / Вид работы</a:t>
                      </a:r>
                      <a:endParaRPr lang="ru-RU" sz="12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Лекции</a:t>
                      </a:r>
                      <a:endParaRPr lang="ru-RU" sz="12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Практические занятия</a:t>
                      </a:r>
                      <a:endParaRPr lang="ru-RU" sz="12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Самостоятельная работа</a:t>
                      </a:r>
                      <a:endParaRPr lang="ru-RU" sz="12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>
                          <a:solidFill>
                            <a:srgbClr val="0F1115"/>
                          </a:solidFill>
                          <a:effectLst/>
                        </a:rPr>
                        <a:t>Всего часов</a:t>
                      </a:r>
                      <a:endParaRPr lang="ru-RU" sz="12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1" i="0" u="none" strike="noStrike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Компетенции (КРМ)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1" i="0" u="none" strike="noStrike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Индикаторы</a:t>
                      </a: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1573123595"/>
                  </a:ext>
                </a:extLst>
              </a:tr>
              <a:tr h="58525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1</a:t>
                      </a:r>
                      <a:endParaRPr lang="ru-RU" sz="12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77872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>
                          <a:solidFill>
                            <a:srgbClr val="0F1115"/>
                          </a:solidFill>
                          <a:effectLst/>
                        </a:rPr>
                        <a:t>Модуль 1. Классические методы оптимизации для МО (темы 1–4)</a:t>
                      </a:r>
                      <a:endParaRPr lang="ru-RU" sz="12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>
                          <a:solidFill>
                            <a:srgbClr val="0F1115"/>
                          </a:solidFill>
                          <a:effectLst/>
                        </a:rPr>
                        <a:t>15</a:t>
                      </a:r>
                      <a:endParaRPr lang="ru-RU" sz="12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>
                          <a:solidFill>
                            <a:srgbClr val="0F1115"/>
                          </a:solidFill>
                          <a:effectLst/>
                        </a:rPr>
                        <a:t>15</a:t>
                      </a:r>
                      <a:endParaRPr lang="ru-RU" sz="12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>
                          <a:solidFill>
                            <a:srgbClr val="0F1115"/>
                          </a:solidFill>
                          <a:effectLst/>
                        </a:rPr>
                        <a:t>24</a:t>
                      </a:r>
                      <a:endParaRPr lang="ru-RU" sz="120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1" dirty="0">
                          <a:solidFill>
                            <a:srgbClr val="0F1115"/>
                          </a:solidFill>
                          <a:effectLst/>
                        </a:rPr>
                        <a:t>54</a:t>
                      </a:r>
                      <a:endParaRPr lang="ru-RU" sz="12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77872" marT="81117" marB="8111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1" i="0" u="none" strike="noStrike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MF‑3, ML‑3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1" i="0" u="none" strike="noStrike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MF‑3.1, MF‑3.2, ML‑3.1, ML‑3.2</a:t>
                      </a: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3915328148"/>
                  </a:ext>
                </a:extLst>
              </a:tr>
              <a:tr h="37502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77872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rgbClr val="0F1115"/>
                          </a:solidFill>
                          <a:effectLst/>
                        </a:rPr>
                        <a:t>Тема 1. Введение в оптимизацию в ML</a:t>
                      </a:r>
                      <a:endParaRPr lang="ru-R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*4*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*4*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*6*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*14*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77872" marT="81117" marB="8111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MF‑3, ML‑3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MF‑3.1, ML‑3.1</a:t>
                      </a: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2388813582"/>
                  </a:ext>
                </a:extLst>
              </a:tr>
              <a:tr h="44698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77872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Тема 2. Выпуклая оптимизация и классы функций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*4*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*4*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*6*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*14*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77872" marT="81117" marB="8111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MF‑3, ML‑3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MF‑3.1, ML‑3.1</a:t>
                      </a: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3453060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77872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Тема 3. Градиентные методы первого порядка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*4*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*4*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*6*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*14*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77872" marT="81117" marB="8111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MF‑3, ML‑3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MF‑3.1, MF‑3.2, ML‑3.2</a:t>
                      </a: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4046309882"/>
                  </a:ext>
                </a:extLst>
              </a:tr>
              <a:tr h="43686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77872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rgbClr val="0F1115"/>
                          </a:solidFill>
                          <a:effectLst/>
                        </a:rPr>
                        <a:t>Тема 4. Ускоренные методы и стохастический градиентный спуск</a:t>
                      </a:r>
                      <a:endParaRPr lang="ru-R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rgbClr val="0F1115"/>
                          </a:solidFill>
                          <a:effectLst/>
                        </a:rPr>
                        <a:t>*3*</a:t>
                      </a:r>
                      <a:endParaRPr lang="ru-R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*3*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solidFill>
                            <a:srgbClr val="0F1115"/>
                          </a:solidFill>
                          <a:effectLst/>
                        </a:rPr>
                        <a:t>*6*</a:t>
                      </a:r>
                      <a:endParaRPr lang="ru-RU" sz="12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solidFill>
                            <a:srgbClr val="0F1115"/>
                          </a:solidFill>
                          <a:effectLst/>
                        </a:rPr>
                        <a:t>*12*</a:t>
                      </a:r>
                      <a:endParaRPr lang="ru-RU" sz="12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77872" marT="81117" marB="8111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i="0" u="none" strike="noStrike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MF‑3, ML‑3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100" b="0" i="0" u="none" strike="noStrike" dirty="0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MF‑3.1, MF‑3.2, ML‑3.2</a:t>
                      </a: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2956432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5312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5AC55-83B9-F3E8-201B-DC5F43DA5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35B5076-1BA2-1EFD-32E7-28CB8ACE8A73}"/>
              </a:ext>
            </a:extLst>
          </p:cNvPr>
          <p:cNvSpPr/>
          <p:nvPr/>
        </p:nvSpPr>
        <p:spPr>
          <a:xfrm>
            <a:off x="0" y="1"/>
            <a:ext cx="12191999" cy="6857999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BB1C072-53B7-B133-69C0-ACEFD3C10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327" y="347827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9FC240-3531-4A5D-B39A-0B0F1B522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41601"/>
            <a:ext cx="10400142" cy="878761"/>
          </a:xfrm>
        </p:spPr>
        <p:txBody>
          <a:bodyPr>
            <a:no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Учебно-тематический план (распределение часов по модулям)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06FE92CC-E49C-B414-36CC-439603D1CDEE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A947C97D-46B7-E848-04A6-2A1B8AE5AA84}"/>
              </a:ext>
            </a:extLst>
          </p:cNvPr>
          <p:cNvSpPr/>
          <p:nvPr/>
        </p:nvSpPr>
        <p:spPr>
          <a:xfrm>
            <a:off x="412488" y="1701478"/>
            <a:ext cx="11208494" cy="4860045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1DE1B304-1BD6-1845-E213-28373E273E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037629"/>
              </p:ext>
            </p:extLst>
          </p:nvPr>
        </p:nvGraphicFramePr>
        <p:xfrm>
          <a:off x="589150" y="1705022"/>
          <a:ext cx="10898240" cy="486874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64544">
                  <a:extLst>
                    <a:ext uri="{9D8B030D-6E8A-4147-A177-3AD203B41FA5}">
                      <a16:colId xmlns:a16="http://schemas.microsoft.com/office/drawing/2014/main" val="2154184152"/>
                    </a:ext>
                  </a:extLst>
                </a:gridCol>
                <a:gridCol w="4162995">
                  <a:extLst>
                    <a:ext uri="{9D8B030D-6E8A-4147-A177-3AD203B41FA5}">
                      <a16:colId xmlns:a16="http://schemas.microsoft.com/office/drawing/2014/main" val="1865696725"/>
                    </a:ext>
                  </a:extLst>
                </a:gridCol>
                <a:gridCol w="823964">
                  <a:extLst>
                    <a:ext uri="{9D8B030D-6E8A-4147-A177-3AD203B41FA5}">
                      <a16:colId xmlns:a16="http://schemas.microsoft.com/office/drawing/2014/main" val="62915893"/>
                    </a:ext>
                  </a:extLst>
                </a:gridCol>
                <a:gridCol w="1115367">
                  <a:extLst>
                    <a:ext uri="{9D8B030D-6E8A-4147-A177-3AD203B41FA5}">
                      <a16:colId xmlns:a16="http://schemas.microsoft.com/office/drawing/2014/main" val="1665253138"/>
                    </a:ext>
                  </a:extLst>
                </a:gridCol>
                <a:gridCol w="1173926">
                  <a:extLst>
                    <a:ext uri="{9D8B030D-6E8A-4147-A177-3AD203B41FA5}">
                      <a16:colId xmlns:a16="http://schemas.microsoft.com/office/drawing/2014/main" val="2263094588"/>
                    </a:ext>
                  </a:extLst>
                </a:gridCol>
                <a:gridCol w="659398">
                  <a:extLst>
                    <a:ext uri="{9D8B030D-6E8A-4147-A177-3AD203B41FA5}">
                      <a16:colId xmlns:a16="http://schemas.microsoft.com/office/drawing/2014/main" val="720851982"/>
                    </a:ext>
                  </a:extLst>
                </a:gridCol>
                <a:gridCol w="1356528">
                  <a:extLst>
                    <a:ext uri="{9D8B030D-6E8A-4147-A177-3AD203B41FA5}">
                      <a16:colId xmlns:a16="http://schemas.microsoft.com/office/drawing/2014/main" val="2730044368"/>
                    </a:ext>
                  </a:extLst>
                </a:gridCol>
                <a:gridCol w="1341518">
                  <a:extLst>
                    <a:ext uri="{9D8B030D-6E8A-4147-A177-3AD203B41FA5}">
                      <a16:colId xmlns:a16="http://schemas.microsoft.com/office/drawing/2014/main" val="1244940781"/>
                    </a:ext>
                  </a:extLst>
                </a:gridCol>
              </a:tblGrid>
              <a:tr h="58731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1">
                          <a:solidFill>
                            <a:srgbClr val="0F1115"/>
                          </a:solidFill>
                          <a:effectLst/>
                        </a:rPr>
                        <a:t>№</a:t>
                      </a:r>
                      <a:endParaRPr lang="ru-RU" sz="105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77872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1" dirty="0">
                          <a:solidFill>
                            <a:srgbClr val="0F1115"/>
                          </a:solidFill>
                          <a:effectLst/>
                        </a:rPr>
                        <a:t>Модуль / Вид работы</a:t>
                      </a:r>
                      <a:endParaRPr lang="ru-RU" sz="105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1">
                          <a:solidFill>
                            <a:srgbClr val="0F1115"/>
                          </a:solidFill>
                          <a:effectLst/>
                        </a:rPr>
                        <a:t>Лекции</a:t>
                      </a:r>
                      <a:endParaRPr lang="ru-RU" sz="105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1">
                          <a:solidFill>
                            <a:srgbClr val="0F1115"/>
                          </a:solidFill>
                          <a:effectLst/>
                        </a:rPr>
                        <a:t>Практические занятия</a:t>
                      </a:r>
                      <a:endParaRPr lang="ru-RU" sz="105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1">
                          <a:solidFill>
                            <a:srgbClr val="0F1115"/>
                          </a:solidFill>
                          <a:effectLst/>
                        </a:rPr>
                        <a:t>Самостоятельная работа</a:t>
                      </a:r>
                      <a:endParaRPr lang="ru-RU" sz="1050" b="1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1" dirty="0">
                          <a:solidFill>
                            <a:srgbClr val="0F1115"/>
                          </a:solidFill>
                          <a:effectLst/>
                        </a:rPr>
                        <a:t>Всего часов</a:t>
                      </a:r>
                      <a:endParaRPr lang="ru-RU" sz="105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9787" marR="129787" marT="81117" marB="81117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1" i="0" u="none" strike="noStrike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Компетенции (КРМ)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1" i="0" u="none" strike="noStrike" dirty="0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Индикаторы</a:t>
                      </a: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1573123595"/>
                  </a:ext>
                </a:extLst>
              </a:tr>
              <a:tr h="52887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1" dirty="0">
                          <a:solidFill>
                            <a:srgbClr val="0F1115"/>
                          </a:solidFill>
                          <a:effectLst/>
                        </a:rPr>
                        <a:t>2</a:t>
                      </a:r>
                      <a:endParaRPr lang="ru-RU" sz="105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48127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1" dirty="0">
                          <a:solidFill>
                            <a:srgbClr val="0F1115"/>
                          </a:solidFill>
                          <a:effectLst/>
                        </a:rPr>
                        <a:t>Модуль 2. Современные методы оптимизации в системах ИИ</a:t>
                      </a:r>
                      <a:r>
                        <a:rPr lang="ru-RU" sz="1050" b="0" dirty="0">
                          <a:solidFill>
                            <a:srgbClr val="0F1115"/>
                          </a:solidFill>
                          <a:effectLst/>
                        </a:rPr>
                        <a:t> (темы 5–8)</a:t>
                      </a:r>
                      <a:endParaRPr lang="ru-RU" sz="105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>
                          <a:solidFill>
                            <a:srgbClr val="0F1115"/>
                          </a:solidFill>
                          <a:effectLst/>
                        </a:rPr>
                        <a:t>15</a:t>
                      </a: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 dirty="0">
                          <a:solidFill>
                            <a:srgbClr val="0F1115"/>
                          </a:solidFill>
                          <a:effectLst/>
                        </a:rPr>
                        <a:t>15</a:t>
                      </a:r>
                      <a:endParaRPr lang="ru-RU" sz="105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 dirty="0">
                          <a:solidFill>
                            <a:srgbClr val="0F1115"/>
                          </a:solidFill>
                          <a:effectLst/>
                        </a:rPr>
                        <a:t>24</a:t>
                      </a:r>
                      <a:endParaRPr lang="ru-RU" sz="105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1" dirty="0">
                          <a:solidFill>
                            <a:srgbClr val="0F1115"/>
                          </a:solidFill>
                          <a:effectLst/>
                        </a:rPr>
                        <a:t>54</a:t>
                      </a:r>
                      <a:endParaRPr lang="ru-RU" sz="105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48127" marT="50132" marB="5013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1" i="0" u="none" strike="noStrike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MF‑3, ML‑3, ML‑5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1" i="0" u="none" strike="noStrike" dirty="0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MF‑3.2, ML‑3.2, ML‑3.3, ML‑5.1, ML‑5.2, ML‑5.3</a:t>
                      </a: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3915328148"/>
                  </a:ext>
                </a:extLst>
              </a:tr>
              <a:tr h="52887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48127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 dirty="0">
                          <a:solidFill>
                            <a:srgbClr val="0F1115"/>
                          </a:solidFill>
                          <a:effectLst/>
                        </a:rPr>
                        <a:t>Тема 5. Адаптивные методы оптимизации (Adam, </a:t>
                      </a:r>
                      <a:r>
                        <a:rPr lang="ru-RU" sz="1050" b="0" dirty="0" err="1">
                          <a:solidFill>
                            <a:srgbClr val="0F1115"/>
                          </a:solidFill>
                          <a:effectLst/>
                        </a:rPr>
                        <a:t>RMSProp</a:t>
                      </a:r>
                      <a:r>
                        <a:rPr lang="ru-RU" sz="1050" b="0" dirty="0">
                          <a:solidFill>
                            <a:srgbClr val="0F1115"/>
                          </a:solidFill>
                          <a:effectLst/>
                        </a:rPr>
                        <a:t>, </a:t>
                      </a:r>
                      <a:r>
                        <a:rPr lang="ru-RU" sz="1050" b="0" dirty="0" err="1">
                          <a:solidFill>
                            <a:srgbClr val="0F1115"/>
                          </a:solidFill>
                          <a:effectLst/>
                        </a:rPr>
                        <a:t>AdaGrad</a:t>
                      </a:r>
                      <a:r>
                        <a:rPr lang="ru-RU" sz="1050" b="0" dirty="0">
                          <a:solidFill>
                            <a:srgbClr val="0F1115"/>
                          </a:solidFill>
                          <a:effectLst/>
                        </a:rPr>
                        <a:t>)</a:t>
                      </a:r>
                      <a:endParaRPr lang="ru-RU" sz="105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 dirty="0">
                          <a:solidFill>
                            <a:srgbClr val="0F1115"/>
                          </a:solidFill>
                          <a:effectLst/>
                        </a:rPr>
                        <a:t>*4*</a:t>
                      </a:r>
                      <a:endParaRPr lang="ru-RU" sz="105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 dirty="0">
                          <a:solidFill>
                            <a:srgbClr val="0F1115"/>
                          </a:solidFill>
                          <a:effectLst/>
                        </a:rPr>
                        <a:t>*4*</a:t>
                      </a:r>
                      <a:endParaRPr lang="ru-RU" sz="105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 dirty="0">
                          <a:solidFill>
                            <a:srgbClr val="0F1115"/>
                          </a:solidFill>
                          <a:effectLst/>
                        </a:rPr>
                        <a:t>*6*</a:t>
                      </a:r>
                      <a:endParaRPr lang="ru-RU" sz="105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 dirty="0">
                          <a:solidFill>
                            <a:srgbClr val="0F1115"/>
                          </a:solidFill>
                          <a:effectLst/>
                        </a:rPr>
                        <a:t>*14*</a:t>
                      </a:r>
                      <a:endParaRPr lang="ru-RU" sz="105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48127" marT="50132" marB="5013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MF‑3, ML‑3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MF‑3.2, ML‑3.2</a:t>
                      </a: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2388813582"/>
                  </a:ext>
                </a:extLst>
              </a:tr>
              <a:tr h="52887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48127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 dirty="0">
                          <a:solidFill>
                            <a:srgbClr val="0F1115"/>
                          </a:solidFill>
                          <a:effectLst/>
                        </a:rPr>
                        <a:t>Тема 6. Настройка </a:t>
                      </a:r>
                      <a:r>
                        <a:rPr lang="ru-RU" sz="1050" b="0" dirty="0" err="1">
                          <a:solidFill>
                            <a:srgbClr val="0F1115"/>
                          </a:solidFill>
                          <a:effectLst/>
                        </a:rPr>
                        <a:t>гиперпараметров</a:t>
                      </a:r>
                      <a:r>
                        <a:rPr lang="ru-RU" sz="1050" b="0" dirty="0">
                          <a:solidFill>
                            <a:srgbClr val="0F1115"/>
                          </a:solidFill>
                          <a:effectLst/>
                        </a:rPr>
                        <a:t> и байесовская оптимизация</a:t>
                      </a:r>
                      <a:endParaRPr lang="ru-RU" sz="105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>
                          <a:solidFill>
                            <a:srgbClr val="0F1115"/>
                          </a:solidFill>
                          <a:effectLst/>
                        </a:rPr>
                        <a:t>*4*</a:t>
                      </a: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>
                          <a:solidFill>
                            <a:srgbClr val="0F1115"/>
                          </a:solidFill>
                          <a:effectLst/>
                        </a:rPr>
                        <a:t>*4*</a:t>
                      </a: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 dirty="0">
                          <a:solidFill>
                            <a:srgbClr val="0F1115"/>
                          </a:solidFill>
                          <a:effectLst/>
                        </a:rPr>
                        <a:t>*6*</a:t>
                      </a:r>
                      <a:endParaRPr lang="ru-RU" sz="105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>
                          <a:solidFill>
                            <a:srgbClr val="0F1115"/>
                          </a:solidFill>
                          <a:effectLst/>
                        </a:rPr>
                        <a:t>*14*</a:t>
                      </a: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48127" marT="50132" marB="5013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MF‑3, ML‑3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MF‑3.2, ML‑3.2</a:t>
                      </a: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3453060370"/>
                  </a:ext>
                </a:extLst>
              </a:tr>
              <a:tr h="52887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48127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 dirty="0">
                          <a:solidFill>
                            <a:srgbClr val="0F1115"/>
                          </a:solidFill>
                          <a:effectLst/>
                        </a:rPr>
                        <a:t>Тема 7. Оптимизация глубоких нейронных сетей и поиск архитектур</a:t>
                      </a:r>
                      <a:endParaRPr lang="ru-RU" sz="105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>
                          <a:solidFill>
                            <a:srgbClr val="0F1115"/>
                          </a:solidFill>
                          <a:effectLst/>
                        </a:rPr>
                        <a:t>*4*</a:t>
                      </a: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>
                          <a:solidFill>
                            <a:srgbClr val="0F1115"/>
                          </a:solidFill>
                          <a:effectLst/>
                        </a:rPr>
                        <a:t>*4*</a:t>
                      </a: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 dirty="0">
                          <a:solidFill>
                            <a:srgbClr val="0F1115"/>
                          </a:solidFill>
                          <a:effectLst/>
                        </a:rPr>
                        <a:t>*6*</a:t>
                      </a:r>
                      <a:endParaRPr lang="ru-RU" sz="105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>
                          <a:solidFill>
                            <a:srgbClr val="0F1115"/>
                          </a:solidFill>
                          <a:effectLst/>
                        </a:rPr>
                        <a:t>*14*</a:t>
                      </a: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48127" marT="50132" marB="5013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MF‑3, ML‑3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MF‑3.2, ML‑3.2</a:t>
                      </a: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4046309882"/>
                  </a:ext>
                </a:extLst>
              </a:tr>
              <a:tr h="52887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48127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 dirty="0">
                          <a:solidFill>
                            <a:srgbClr val="0F1115"/>
                          </a:solidFill>
                          <a:effectLst/>
                        </a:rPr>
                        <a:t>Тема 8. Робастная оптимизация и безопасность ML-моделей</a:t>
                      </a:r>
                      <a:endParaRPr lang="ru-RU" sz="105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>
                          <a:solidFill>
                            <a:srgbClr val="0F1115"/>
                          </a:solidFill>
                          <a:effectLst/>
                        </a:rPr>
                        <a:t>*3*</a:t>
                      </a: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>
                          <a:solidFill>
                            <a:srgbClr val="0F1115"/>
                          </a:solidFill>
                          <a:effectLst/>
                        </a:rPr>
                        <a:t>*3*</a:t>
                      </a: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 dirty="0">
                          <a:solidFill>
                            <a:srgbClr val="0F1115"/>
                          </a:solidFill>
                          <a:effectLst/>
                        </a:rPr>
                        <a:t>*6*</a:t>
                      </a:r>
                      <a:endParaRPr lang="ru-RU" sz="105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>
                          <a:solidFill>
                            <a:srgbClr val="0F1115"/>
                          </a:solidFill>
                          <a:effectLst/>
                        </a:rPr>
                        <a:t>*12*</a:t>
                      </a: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48127" marT="50132" marB="5013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ML‑3, ML‑5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ML‑3.3, ML‑5.1, ML‑5.2, ML‑5.3</a:t>
                      </a: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2956432102"/>
                  </a:ext>
                </a:extLst>
              </a:tr>
              <a:tr h="52887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1">
                          <a:solidFill>
                            <a:srgbClr val="0F1115"/>
                          </a:solidFill>
                          <a:effectLst/>
                        </a:rPr>
                        <a:t>3</a:t>
                      </a: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48127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1" dirty="0">
                          <a:solidFill>
                            <a:srgbClr val="0F1115"/>
                          </a:solidFill>
                          <a:effectLst/>
                        </a:rPr>
                        <a:t>Курсовой проект (консультации, выполнение, подготовка отчёта)</a:t>
                      </a:r>
                      <a:endParaRPr lang="ru-RU" sz="105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>
                          <a:solidFill>
                            <a:srgbClr val="0F1115"/>
                          </a:solidFill>
                          <a:effectLst/>
                        </a:rPr>
                        <a:t>–</a:t>
                      </a: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 dirty="0">
                          <a:solidFill>
                            <a:srgbClr val="0F1115"/>
                          </a:solidFill>
                          <a:effectLst/>
                        </a:rPr>
                        <a:t>–</a:t>
                      </a:r>
                      <a:endParaRPr lang="ru-RU" sz="105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>
                          <a:solidFill>
                            <a:srgbClr val="0F1115"/>
                          </a:solidFill>
                          <a:effectLst/>
                        </a:rPr>
                        <a:t>40</a:t>
                      </a: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1">
                          <a:solidFill>
                            <a:srgbClr val="0F1115"/>
                          </a:solidFill>
                          <a:effectLst/>
                        </a:rPr>
                        <a:t>40</a:t>
                      </a: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48127" marT="50132" marB="5013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MF‑3, ML‑3, ML‑5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Все 8 индикаторов</a:t>
                      </a: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3144011414"/>
                  </a:ext>
                </a:extLst>
              </a:tr>
              <a:tr h="30132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1">
                          <a:solidFill>
                            <a:srgbClr val="0F1115"/>
                          </a:solidFill>
                          <a:effectLst/>
                        </a:rPr>
                        <a:t>4</a:t>
                      </a: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48127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1" dirty="0">
                          <a:solidFill>
                            <a:srgbClr val="0F1115"/>
                          </a:solidFill>
                          <a:effectLst/>
                        </a:rPr>
                        <a:t>Промежуточная аттестация (экзамен)</a:t>
                      </a:r>
                      <a:endParaRPr lang="ru-RU" sz="105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>
                          <a:solidFill>
                            <a:srgbClr val="0F1115"/>
                          </a:solidFill>
                          <a:effectLst/>
                        </a:rPr>
                        <a:t>–</a:t>
                      </a: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>
                          <a:solidFill>
                            <a:srgbClr val="0F1115"/>
                          </a:solidFill>
                          <a:effectLst/>
                        </a:rPr>
                        <a:t>–</a:t>
                      </a: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 dirty="0">
                          <a:solidFill>
                            <a:srgbClr val="0F1115"/>
                          </a:solidFill>
                          <a:effectLst/>
                        </a:rPr>
                        <a:t>23*</a:t>
                      </a:r>
                      <a:endParaRPr lang="ru-RU" sz="105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 dirty="0">
                          <a:solidFill>
                            <a:srgbClr val="0F1115"/>
                          </a:solidFill>
                          <a:effectLst/>
                        </a:rPr>
                        <a:t>32**</a:t>
                      </a:r>
                      <a:endParaRPr lang="ru-RU" sz="105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48127" marT="50132" marB="5013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–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–</a:t>
                      </a: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2867437536"/>
                  </a:ext>
                </a:extLst>
              </a:tr>
              <a:tr h="30132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48127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 dirty="0">
                          <a:solidFill>
                            <a:srgbClr val="0F1115"/>
                          </a:solidFill>
                          <a:effectLst/>
                        </a:rPr>
                        <a:t>в том числе контроль (экзамен)</a:t>
                      </a:r>
                      <a:endParaRPr lang="ru-RU" sz="105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>
                          <a:solidFill>
                            <a:srgbClr val="0F1115"/>
                          </a:solidFill>
                          <a:effectLst/>
                        </a:rPr>
                        <a:t>–</a:t>
                      </a: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>
                          <a:solidFill>
                            <a:srgbClr val="0F1115"/>
                          </a:solidFill>
                          <a:effectLst/>
                        </a:rPr>
                        <a:t>–</a:t>
                      </a: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>
                          <a:solidFill>
                            <a:srgbClr val="0F1115"/>
                          </a:solidFill>
                          <a:effectLst/>
                        </a:rPr>
                        <a:t>–</a:t>
                      </a: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0" dirty="0">
                          <a:solidFill>
                            <a:srgbClr val="0F1115"/>
                          </a:solidFill>
                          <a:effectLst/>
                        </a:rPr>
                        <a:t>*9*</a:t>
                      </a:r>
                      <a:endParaRPr lang="ru-RU" sz="105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48127" marT="50132" marB="50132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0" i="0" u="none" strike="noStrike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–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F1115"/>
                          </a:solidFill>
                          <a:effectLst/>
                          <a:latin typeface="Segoe UI" panose="020B0502040204020203" pitchFamily="34" charset="0"/>
                        </a:rPr>
                        <a:t>–</a:t>
                      </a: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2565055740"/>
                  </a:ext>
                </a:extLst>
              </a:tr>
              <a:tr h="30132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48127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1" dirty="0">
                          <a:solidFill>
                            <a:srgbClr val="0F1115"/>
                          </a:solidFill>
                          <a:effectLst/>
                        </a:rPr>
                        <a:t>ИТОГО</a:t>
                      </a:r>
                      <a:endParaRPr lang="ru-RU" sz="105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1">
                          <a:solidFill>
                            <a:srgbClr val="0F1115"/>
                          </a:solidFill>
                          <a:effectLst/>
                        </a:rPr>
                        <a:t>30</a:t>
                      </a: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1">
                          <a:solidFill>
                            <a:srgbClr val="0F1115"/>
                          </a:solidFill>
                          <a:effectLst/>
                        </a:rPr>
                        <a:t>30</a:t>
                      </a: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1">
                          <a:solidFill>
                            <a:srgbClr val="0F1115"/>
                          </a:solidFill>
                          <a:effectLst/>
                        </a:rPr>
                        <a:t>111</a:t>
                      </a:r>
                      <a:endParaRPr lang="ru-RU" sz="105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80211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50" b="1" dirty="0">
                          <a:solidFill>
                            <a:srgbClr val="0F1115"/>
                          </a:solidFill>
                          <a:effectLst/>
                        </a:rPr>
                        <a:t>180</a:t>
                      </a:r>
                      <a:endParaRPr lang="ru-RU" sz="105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48127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ru-RU" sz="105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48127" marT="50132" marB="501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ru-RU" sz="105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80211" marR="48127" marT="50132" marB="50132" anchor="ctr"/>
                </a:tc>
                <a:extLst>
                  <a:ext uri="{0D108BD9-81ED-4DB2-BD59-A6C34878D82A}">
                    <a16:rowId xmlns:a16="http://schemas.microsoft.com/office/drawing/2014/main" val="679146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4060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5620D-19DE-65D8-729D-7558DC7C9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BAE45C-7C6F-9714-FC87-D6DB5FA57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9139"/>
            <a:ext cx="10515600" cy="759177"/>
          </a:xfrm>
        </p:spPr>
        <p:txBody>
          <a:bodyPr>
            <a:normAutofit/>
          </a:bodyPr>
          <a:lstStyle/>
          <a:p>
            <a:r>
              <a:rPr lang="ru-RU" sz="3600" dirty="0"/>
              <a:t> Основы Фонда оценочных средств (ФОС)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472ED2E-0DA8-5194-41B8-C0E3F59D9838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0D727C82-5E8D-234A-4585-9312420E0829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CF6C23FF-677A-4B84-C1FF-28A820CEF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007690"/>
              </p:ext>
            </p:extLst>
          </p:nvPr>
        </p:nvGraphicFramePr>
        <p:xfrm>
          <a:off x="838200" y="2685874"/>
          <a:ext cx="5673132" cy="364286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474563">
                  <a:extLst>
                    <a:ext uri="{9D8B030D-6E8A-4147-A177-3AD203B41FA5}">
                      <a16:colId xmlns:a16="http://schemas.microsoft.com/office/drawing/2014/main" val="231575789"/>
                    </a:ext>
                  </a:extLst>
                </a:gridCol>
                <a:gridCol w="559518">
                  <a:extLst>
                    <a:ext uri="{9D8B030D-6E8A-4147-A177-3AD203B41FA5}">
                      <a16:colId xmlns:a16="http://schemas.microsoft.com/office/drawing/2014/main" val="647996821"/>
                    </a:ext>
                  </a:extLst>
                </a:gridCol>
                <a:gridCol w="1066581">
                  <a:extLst>
                    <a:ext uri="{9D8B030D-6E8A-4147-A177-3AD203B41FA5}">
                      <a16:colId xmlns:a16="http://schemas.microsoft.com/office/drawing/2014/main" val="364110370"/>
                    </a:ext>
                  </a:extLst>
                </a:gridCol>
                <a:gridCol w="1072170">
                  <a:extLst>
                    <a:ext uri="{9D8B030D-6E8A-4147-A177-3AD203B41FA5}">
                      <a16:colId xmlns:a16="http://schemas.microsoft.com/office/drawing/2014/main" val="91057130"/>
                    </a:ext>
                  </a:extLst>
                </a:gridCol>
                <a:gridCol w="1500300">
                  <a:extLst>
                    <a:ext uri="{9D8B030D-6E8A-4147-A177-3AD203B41FA5}">
                      <a16:colId xmlns:a16="http://schemas.microsoft.com/office/drawing/2014/main" val="7630903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1" dirty="0">
                          <a:solidFill>
                            <a:srgbClr val="0F1115"/>
                          </a:solidFill>
                          <a:effectLst/>
                        </a:rPr>
                        <a:t>Оценочное средство</a:t>
                      </a:r>
                      <a:endParaRPr lang="ru-RU" sz="10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1" dirty="0">
                          <a:solidFill>
                            <a:srgbClr val="0F1115"/>
                          </a:solidFill>
                          <a:effectLst/>
                        </a:rPr>
                        <a:t>Вес</a:t>
                      </a:r>
                      <a:endParaRPr lang="ru-RU" sz="10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1" dirty="0">
                          <a:solidFill>
                            <a:srgbClr val="0F1115"/>
                          </a:solidFill>
                          <a:effectLst/>
                        </a:rPr>
                        <a:t>Тип оценивания</a:t>
                      </a:r>
                      <a:endParaRPr lang="ru-RU" sz="10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Проверяемые компетенции (КРМ)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Проверяемые индикаторы (примеры)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167425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 dirty="0">
                          <a:solidFill>
                            <a:srgbClr val="0F1115"/>
                          </a:solidFill>
                          <a:effectLst/>
                        </a:rPr>
                        <a:t>Лабораторные работы</a:t>
                      </a:r>
                      <a:endParaRPr lang="ru-RU" sz="1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0F1115"/>
                          </a:solidFill>
                          <a:effectLst/>
                        </a:rPr>
                        <a:t>20%</a:t>
                      </a:r>
                      <a:endParaRPr lang="ru-RU" sz="1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800" b="0" dirty="0">
                          <a:solidFill>
                            <a:srgbClr val="0F1115"/>
                          </a:solidFill>
                          <a:effectLst/>
                        </a:rPr>
                        <a:t>Формирующее</a:t>
                      </a:r>
                      <a:endParaRPr lang="ru-RU" sz="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7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MF‑3</a:t>
                      </a:r>
                      <a:r>
                        <a:rPr lang="ru-RU" sz="7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, </a:t>
                      </a:r>
                      <a:r>
                        <a:rPr lang="ru-RU" sz="7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ML‑3</a:t>
                      </a:r>
                      <a:r>
                        <a:rPr lang="ru-RU" sz="7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, </a:t>
                      </a:r>
                      <a:r>
                        <a:rPr lang="ru-RU" sz="7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ML‑5</a:t>
                      </a:r>
                      <a:endParaRPr lang="ru-RU" sz="7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7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MF‑3.1, MF‑3.2, ML‑3.1, ML‑3.2, ML‑5.1, ML‑5.2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436662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0F1115"/>
                          </a:solidFill>
                          <a:effectLst/>
                        </a:rPr>
                        <a:t>Тест (промежуточный)</a:t>
                      </a:r>
                      <a:endParaRPr lang="ru-RU" sz="1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0F1115"/>
                          </a:solidFill>
                          <a:effectLst/>
                        </a:rPr>
                        <a:t>10%</a:t>
                      </a:r>
                      <a:endParaRPr lang="ru-RU" sz="1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800" b="0">
                          <a:solidFill>
                            <a:srgbClr val="0F1115"/>
                          </a:solidFill>
                          <a:effectLst/>
                        </a:rPr>
                        <a:t>Формирующее</a:t>
                      </a:r>
                      <a:endParaRPr lang="ru-RU" sz="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7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MF‑3</a:t>
                      </a:r>
                      <a:r>
                        <a:rPr lang="ru-RU" sz="7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, </a:t>
                      </a:r>
                      <a:r>
                        <a:rPr lang="ru-RU" sz="7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ML‑3</a:t>
                      </a:r>
                      <a:r>
                        <a:rPr lang="ru-RU" sz="7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, </a:t>
                      </a:r>
                      <a:r>
                        <a:rPr lang="ru-RU" sz="7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ML‑5</a:t>
                      </a:r>
                      <a:endParaRPr lang="ru-RU" sz="7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7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MF‑3.1, MF‑3.2, ML‑3.1, ML‑5.1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564127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1">
                          <a:solidFill>
                            <a:srgbClr val="0F1115"/>
                          </a:solidFill>
                          <a:effectLst/>
                        </a:rPr>
                        <a:t>Курсовой проект (MVP)</a:t>
                      </a:r>
                      <a:endParaRPr lang="ru-RU" sz="1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1" dirty="0">
                          <a:solidFill>
                            <a:srgbClr val="0F1115"/>
                          </a:solidFill>
                          <a:effectLst/>
                        </a:rPr>
                        <a:t>45%</a:t>
                      </a:r>
                      <a:endParaRPr lang="ru-RU" sz="10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800" b="1">
                          <a:solidFill>
                            <a:srgbClr val="0F1115"/>
                          </a:solidFill>
                          <a:effectLst/>
                        </a:rPr>
                        <a:t>Суммирующее</a:t>
                      </a:r>
                      <a:endParaRPr lang="ru-RU" sz="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7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MF‑3</a:t>
                      </a:r>
                      <a:r>
                        <a:rPr lang="ru-RU" sz="7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, </a:t>
                      </a:r>
                      <a:r>
                        <a:rPr lang="ru-RU" sz="7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ML‑3</a:t>
                      </a:r>
                      <a:r>
                        <a:rPr lang="ru-RU" sz="7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, </a:t>
                      </a:r>
                      <a:r>
                        <a:rPr lang="ru-RU" sz="7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ML‑5</a:t>
                      </a:r>
                      <a:endParaRPr lang="ru-RU" sz="7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7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MF‑3.1, MF‑3.2, ML‑3.1, ML‑3.2, ML‑3.3, ML‑5.1, ML‑5.2, ML‑5.3)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330825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0F1115"/>
                          </a:solidFill>
                          <a:effectLst/>
                        </a:rPr>
                        <a:t>Peer-review</a:t>
                      </a:r>
                      <a:endParaRPr lang="ru-RU" sz="1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0F1115"/>
                          </a:solidFill>
                          <a:effectLst/>
                        </a:rPr>
                        <a:t>10%</a:t>
                      </a:r>
                      <a:endParaRPr lang="ru-RU" sz="1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800" b="0">
                          <a:solidFill>
                            <a:srgbClr val="0F1115"/>
                          </a:solidFill>
                          <a:effectLst/>
                        </a:rPr>
                        <a:t>Формирующее</a:t>
                      </a:r>
                      <a:endParaRPr lang="ru-RU" sz="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7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ML‑3</a:t>
                      </a:r>
                      <a:r>
                        <a:rPr lang="ru-RU" sz="7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, </a:t>
                      </a:r>
                      <a:r>
                        <a:rPr lang="ru-RU" sz="7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ML‑5</a:t>
                      </a:r>
                      <a:endParaRPr lang="ru-RU" sz="7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7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ML‑3.3, ML‑5.3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569509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0F1115"/>
                          </a:solidFill>
                          <a:effectLst/>
                        </a:rPr>
                        <a:t>Экзамен (Защита)</a:t>
                      </a:r>
                      <a:endParaRPr lang="ru-RU" sz="1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000" b="0">
                          <a:solidFill>
                            <a:srgbClr val="0F1115"/>
                          </a:solidFill>
                          <a:effectLst/>
                        </a:rPr>
                        <a:t>15%</a:t>
                      </a:r>
                      <a:endParaRPr lang="ru-RU" sz="1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800" b="0" dirty="0">
                          <a:solidFill>
                            <a:srgbClr val="0F1115"/>
                          </a:solidFill>
                          <a:effectLst/>
                        </a:rPr>
                        <a:t>Суммирующее</a:t>
                      </a:r>
                      <a:endParaRPr lang="ru-RU" sz="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7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MF‑3</a:t>
                      </a:r>
                      <a:r>
                        <a:rPr lang="ru-RU" sz="7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, </a:t>
                      </a:r>
                      <a:r>
                        <a:rPr lang="ru-RU" sz="7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ML‑3</a:t>
                      </a:r>
                      <a:r>
                        <a:rPr lang="ru-RU" sz="7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, </a:t>
                      </a:r>
                      <a:r>
                        <a:rPr lang="ru-RU" sz="7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ML‑5</a:t>
                      </a:r>
                      <a:endParaRPr lang="ru-RU" sz="7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7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MF‑3.1, ML‑3.1, ML‑3.3, ML‑5.3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26852776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1C73E86-761F-677C-875A-621CF7B745F5}"/>
              </a:ext>
            </a:extLst>
          </p:cNvPr>
          <p:cNvSpPr txBox="1"/>
          <p:nvPr/>
        </p:nvSpPr>
        <p:spPr>
          <a:xfrm>
            <a:off x="6775101" y="2197227"/>
            <a:ext cx="516234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600"/>
              </a:spcBef>
              <a:buNone/>
            </a:pP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2. Оси оценивания Курсового проекта (сквозной принцип):</a:t>
            </a:r>
            <a:endParaRPr lang="ru-RU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Ось 1: «Программное решение (MVP)»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 — Качество кода, реализация методов, эксперименты. </a:t>
            </a: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(Вес в КП: 55%)</a:t>
            </a:r>
            <a:endParaRPr lang="ru-RU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Ось 2: «Документация»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 — Обоснование, воспроизводимость, анализ результатов. </a:t>
            </a: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(Вес в КП: 35%)</a:t>
            </a:r>
            <a:endParaRPr lang="ru-RU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Ось 3: «Соответствие роли КРМ»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 — Демонстрация компетенций ML </a:t>
            </a:r>
            <a:r>
              <a:rPr lang="ru-RU" sz="1400" b="0" i="0" dirty="0" err="1">
                <a:solidFill>
                  <a:srgbClr val="0F1115"/>
                </a:solidFill>
                <a:effectLst/>
                <a:latin typeface="quote-cjk-patch"/>
              </a:rPr>
              <a:t>Researcher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 или AI Security </a:t>
            </a:r>
            <a:r>
              <a:rPr lang="ru-RU" sz="1400" b="0" i="0" dirty="0" err="1">
                <a:solidFill>
                  <a:srgbClr val="0F1115"/>
                </a:solidFill>
                <a:effectLst/>
                <a:latin typeface="quote-cjk-patch"/>
              </a:rPr>
              <a:t>Engineer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. </a:t>
            </a: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(Вес в КП: 10%)</a:t>
            </a:r>
            <a:endParaRPr lang="ru-RU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600"/>
              </a:spcBef>
              <a:buNone/>
            </a:pP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3. Ключевые пороги:</a:t>
            </a:r>
            <a:endParaRPr lang="ru-RU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Итоговая оценка ≥ </a:t>
            </a: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4.0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 баллов.</a:t>
            </a:r>
          </a:p>
          <a:p>
            <a:pPr marL="0" marR="0" indent="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Обязательно: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 ≥ </a:t>
            </a: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4.0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 баллов по каждой из осей КП.</a:t>
            </a:r>
          </a:p>
          <a:p>
            <a:pPr marL="0" marR="0" indent="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Правило «слабой оси»: итоговый балл КП не может превышать балл по слабой оси более чем на 1 балл.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B4FD9C-803A-4D0E-975D-45AA462D9EBD}"/>
              </a:ext>
            </a:extLst>
          </p:cNvPr>
          <p:cNvSpPr txBox="1"/>
          <p:nvPr/>
        </p:nvSpPr>
        <p:spPr>
          <a:xfrm>
            <a:off x="838200" y="2197227"/>
            <a:ext cx="60943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600"/>
              </a:spcBef>
              <a:buNone/>
            </a:pP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1. Оценочные средства и их веса (Итоговая оценка):</a:t>
            </a:r>
            <a:endParaRPr lang="ru-RU" sz="1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714137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44606-CAE3-B1B6-9AB4-A25169A77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755387-D50C-3A1E-E92F-42BD14DE5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9139"/>
            <a:ext cx="10515600" cy="1325563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F0E852-13FF-6A72-23D3-57A8D0506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3832"/>
            <a:ext cx="10515600" cy="4007257"/>
          </a:xfrm>
        </p:spPr>
        <p:txBody>
          <a:bodyPr numCol="2"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800" b="1" dirty="0"/>
              <a:t>Ключевые результаты разработки:</a:t>
            </a:r>
            <a:endParaRPr lang="ru-RU" sz="18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800" b="1" dirty="0"/>
              <a:t>Полное соответствие КРМ v3.0</a:t>
            </a:r>
            <a:r>
              <a:rPr lang="ru-RU" sz="1800" dirty="0"/>
              <a:t> – все индикаторы MF-3, ML-3, ML-5 покрыты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800" b="1" dirty="0"/>
              <a:t>Сквозная связь:</a:t>
            </a:r>
            <a:r>
              <a:rPr lang="ru-RU" sz="1800" dirty="0"/>
              <a:t> Роль → Компетенция → Индикатор → Оценочное средство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800" b="1" dirty="0"/>
              <a:t>Принцип триангуляции</a:t>
            </a:r>
            <a:r>
              <a:rPr lang="ru-RU" sz="1800" dirty="0"/>
              <a:t> – каждый индикатор оценивается ≥2 средствами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800" b="1" dirty="0"/>
              <a:t>Инженерная культура</a:t>
            </a:r>
            <a:r>
              <a:rPr lang="ru-RU" sz="1800" dirty="0"/>
              <a:t> – </a:t>
            </a:r>
            <a:r>
              <a:rPr lang="ru-RU" sz="1800" dirty="0" err="1"/>
              <a:t>Git</a:t>
            </a:r>
            <a:r>
              <a:rPr lang="ru-RU" sz="1800" dirty="0"/>
              <a:t>-репозиторий с полной документацией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800" b="1" dirty="0"/>
              <a:t>Готовность к внедрению:</a:t>
            </a:r>
            <a:endParaRPr lang="ru-RU" sz="18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800" dirty="0"/>
              <a:t>Кадровое обеспечение ✓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800" dirty="0"/>
              <a:t>Материально-техническая база ✓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800" dirty="0"/>
              <a:t>Учебно-методические материалы ✓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800" dirty="0"/>
              <a:t>ФОС в формате репозитория ✓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2FE22DC-61F8-BFCE-0057-B412A5C5A0B7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E45B2F73-36FA-5B2E-B1D5-89855F9DD542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317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D3C52-D36E-B5D8-1B74-D1C2DD626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D49AB9E-48D7-E2B7-2537-BD7A755A5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36173"/>
            <a:ext cx="848531" cy="193553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14C6743-F301-E900-1780-71324529E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175" y="1531743"/>
            <a:ext cx="3950825" cy="554262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A99AA-9194-4CB0-7B95-EC429B313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443" y="1867175"/>
            <a:ext cx="9144000" cy="1714723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>
                <a:solidFill>
                  <a:srgbClr val="014189"/>
                </a:solidFill>
              </a:rPr>
              <a:t>Спасибо</a:t>
            </a:r>
            <a:br>
              <a:rPr lang="ru-RU" dirty="0">
                <a:solidFill>
                  <a:srgbClr val="014189"/>
                </a:solidFill>
              </a:rPr>
            </a:br>
            <a:r>
              <a:rPr lang="ru-RU" dirty="0">
                <a:solidFill>
                  <a:srgbClr val="014189"/>
                </a:solidFill>
              </a:rPr>
              <a:t>за внимание!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6EB930A-16BD-7DC1-CCCA-29C950911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443" y="3822096"/>
            <a:ext cx="9144000" cy="658857"/>
          </a:xfrm>
        </p:spPr>
        <p:txBody>
          <a:bodyPr>
            <a:normAutofit/>
          </a:bodyPr>
          <a:lstStyle/>
          <a:p>
            <a:pPr algn="l"/>
            <a:r>
              <a:rPr lang="ru-RU" sz="2000" dirty="0">
                <a:solidFill>
                  <a:srgbClr val="014189"/>
                </a:solidFill>
              </a:rPr>
              <a:t>Контакт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57B91C-B786-81AC-ADAC-261E92165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443" y="386289"/>
            <a:ext cx="5322298" cy="32989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46CD3E4-EC7E-D110-993A-6658A5C51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3323" y="391785"/>
            <a:ext cx="1692234" cy="32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4058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1717</Words>
  <Application>Microsoft Office PowerPoint</Application>
  <PresentationFormat>Широкоэкранный</PresentationFormat>
  <Paragraphs>270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Aptos</vt:lpstr>
      <vt:lpstr>Arial</vt:lpstr>
      <vt:lpstr>Golos Text</vt:lpstr>
      <vt:lpstr>Golos Text DemiBold</vt:lpstr>
      <vt:lpstr>quote-cjk-patch</vt:lpstr>
      <vt:lpstr>Segoe UI</vt:lpstr>
      <vt:lpstr>Тема Office</vt:lpstr>
      <vt:lpstr>Методы оптимизации в системах искусственного интеллекта</vt:lpstr>
      <vt:lpstr>Краткая характеристика дисциплины</vt:lpstr>
      <vt:lpstr>Цель, задачи и целевые роли КРМ</vt:lpstr>
      <vt:lpstr>Пререквизиты и связь с другими дисциплинами по КРМ</vt:lpstr>
      <vt:lpstr>Профильные ИИ-роли КРМ в рамках дисциплины</vt:lpstr>
      <vt:lpstr>Структура, содержание и результаты в логике КРМ</vt:lpstr>
      <vt:lpstr>Учебно-тематический план (распределение часов по модулям)</vt:lpstr>
      <vt:lpstr>Учебно-тематический план (распределение часов по модулям)</vt:lpstr>
      <vt:lpstr> Основы Фонда оценочных средств (ФОС)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Будуева Ольга Олеговна</dc:creator>
  <cp:lastModifiedBy>Vasiliy</cp:lastModifiedBy>
  <cp:revision>8</cp:revision>
  <dcterms:created xsi:type="dcterms:W3CDTF">2026-06-15T11:15:35Z</dcterms:created>
  <dcterms:modified xsi:type="dcterms:W3CDTF">2026-07-15T07:25:56Z</dcterms:modified>
</cp:coreProperties>
</file>